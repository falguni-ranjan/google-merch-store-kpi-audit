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KPI audit, not a redesign or modification of Google’s live store. We used the GA4 Google Merchandise Store demo property and the date range shown in the supplied reports. The goal is to distinguish measured facts from additional measures that management would need to improve decisions. The 1,902 purchases are users in the configured funnel; the 2.09% figure is a user-based funnel completion ratio, not session-based purchase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first large drop-off but do not call it a proven usability problem. Session start is broader than product intent, so the early stage may include users who never intended to shop. The product-view-to-cart and checkout-to-purchase drops are also useful places to investigate. GA4 funnel counts establish where progression falls; usability testing, device/channel segmentation and event validation are needed to understand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 completion ratio is purchase users divided by session-start users within the configured user-based funnel. Desktop is about 20.5 times the mobile completion ratio, but that does not prove a mobile-site defect. Direct is the largest channel by sessions and total revenue, while Organic Search has higher revenue per session and engagement. This is descriptive, not proof of incremental profitability. The product comparison uses items purchased divided by items viewed; item counts and unique users are different measurement units. The supplied device rows sum to 91,059 versus the overall funnel total 90,809, and the channel rows sum to 130,998 versus the report total 131,106; confirm report scopes, filters and capture timing before presenting the breakdowns as reconciled.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three types of measures. Observed metrics are present in the supplied GA4 reports. Calculated metrics are derived from those report values. Proposed KPIs require confirmation or additional data. A session-based purchase conversion rate cannot be finalized from these screenshots until the purchase event and denominator are confirmed. Repeat purchase, returns, margin and ROAS need customer/order/cost data beyond the current evidence. Proposed KRIs are not live alerts; thresholds need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priorities: first diagnose mobile funnel differences and validate events; next improve acquisition tagging and key-event definitions; then add retention, returns and cost measures. Do not recommend changing channel budgets solely because revenue per session differs: the report does not include costs or incremental lift. The website is a student-built, illustrative prototype and has not changed Google’s live store or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0160">
            <a:solidFill>
              <a:srgbClr val="DCE2EC"/>
            </a:solidFill>
            <a:prstDash val="solid"/>
          </a:ln>
        </p:spPr>
      </p:sp>
      <p:sp>
        <p:nvSpPr>
          <p:cNvPr id="3" name="Text 1"/>
          <p:cNvSpPr/>
          <p:nvPr/>
        </p:nvSpPr>
        <p:spPr>
          <a:xfrm>
            <a:off x="530352" y="6510528"/>
            <a:ext cx="5029200" cy="164592"/>
          </a:xfrm>
          <a:prstGeom prst="rect">
            <a:avLst/>
          </a:prstGeom>
          <a:noFill/>
          <a:ln/>
        </p:spPr>
        <p:txBody>
          <a:bodyPr wrap="square" lIns="0" tIns="0" rIns="0" bIns="0" rtlCol="0" anchor="ctr"/>
          <a:lstStyle/>
          <a:p>
            <a:pPr indent="0" marL="0">
              <a:buNone/>
            </a:pPr>
            <a:r>
              <a:rPr lang="en-US" sz="750" b="1" dirty="0">
                <a:solidFill>
                  <a:srgbClr val="667085"/>
                </a:solidFill>
                <a:latin typeface="Aptos" pitchFamily="34" charset="0"/>
                <a:ea typeface="Aptos" pitchFamily="34" charset="-122"/>
                <a:cs typeface="Aptos" pitchFamily="34" charset="-120"/>
              </a:rPr>
              <a:t>KPI DETECTIVE  /  GOOGLE MERCHANDISE STORE</a:t>
            </a:r>
            <a:endParaRPr lang="en-US" sz="750" dirty="0"/>
          </a:p>
        </p:txBody>
      </p:sp>
      <p:sp>
        <p:nvSpPr>
          <p:cNvPr id="4" name="Text 2"/>
          <p:cNvSpPr/>
          <p:nvPr/>
        </p:nvSpPr>
        <p:spPr>
          <a:xfrm>
            <a:off x="7772400" y="6510528"/>
            <a:ext cx="3200400" cy="164592"/>
          </a:xfrm>
          <a:prstGeom prst="rect">
            <a:avLst/>
          </a:prstGeom>
          <a:noFill/>
          <a:ln/>
        </p:spPr>
        <p:txBody>
          <a:bodyPr wrap="square" lIns="0" tIns="0" rIns="0" bIns="0" rtlCol="0" anchor="ctr"/>
          <a:lstStyle/>
          <a:p>
            <a:pPr algn="r" indent="0" marL="0">
              <a:buNone/>
            </a:pPr>
            <a:r>
              <a:rPr lang="en-US" sz="750" dirty="0">
                <a:solidFill>
                  <a:srgbClr val="667085"/>
                </a:solidFill>
                <a:latin typeface="Aptos" pitchFamily="34" charset="0"/>
                <a:ea typeface="Aptos" pitchFamily="34" charset="-122"/>
                <a:cs typeface="Aptos" pitchFamily="34" charset="-120"/>
              </a:rPr>
              <a:t>GA4 demo data • 24 Sep–21 Oct 2026</a:t>
            </a:r>
            <a:endParaRPr lang="en-US" sz="75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9"/>
        </a:solidFill>
      </p:bgPr>
    </p:bg>
    <p:spTree>
      <p:nvGrpSpPr>
        <p:cNvPr id="1" name=""/>
        <p:cNvGrpSpPr/>
        <p:nvPr/>
      </p:nvGrpSpPr>
      <p:grpSpPr>
        <a:xfrm>
          <a:off x="0" y="0"/>
          <a:ext cx="0" cy="0"/>
          <a:chOff x="0" y="0"/>
          <a:chExt cx="0" cy="0"/>
        </a:xfrm>
      </p:grpSpPr>
      <p:sp>
        <p:nvSpPr>
          <p:cNvPr id="2" name="Text 0"/>
          <p:cNvSpPr txBox="1"/>
          <p:nvPr/>
        </p:nvSpPr>
        <p:spPr>
          <a:xfrm>
            <a:off x="621792" y="411480"/>
            <a:ext cx="4023360" cy="201168"/>
          </a:xfrm>
          <a:prstGeom prst="rect">
            <a:avLst/>
          </a:prstGeom>
          <a:noFill/>
          <a:ln/>
        </p:spPr>
        <p:txBody>
          <a:bodyPr wrap="square" lIns="0" tIns="0" rIns="0" bIns="0" rtlCol="0" anchor="ctr">
            <a:normAutofit/>
          </a:bodyPr>
          <a:lstStyle/>
          <a:p>
            <a:pPr algn="l" indent="0" marL="0">
              <a:buNone/>
            </a:pPr>
            <a:r>
              <a:rPr lang="en-US" sz="900" b="1" spc="120" kern="0" dirty="0">
                <a:solidFill>
                  <a:srgbClr val="1A73E8"/>
                </a:solidFill>
                <a:latin typeface="Aptos" pitchFamily="34" charset="0"/>
                <a:ea typeface="Aptos" pitchFamily="34" charset="-122"/>
                <a:cs typeface="Aptos" pitchFamily="34" charset="-120"/>
              </a:rPr>
              <a:t>CIA 1  /  KPI TEARDOWN</a:t>
            </a:r>
            <a:endParaRPr lang="en-US" sz="900" dirty="0"/>
          </a:p>
        </p:txBody>
      </p:sp>
      <p:sp>
        <p:nvSpPr>
          <p:cNvPr id="3" name="Shape 1"/>
          <p:cNvSpPr/>
          <p:nvPr/>
        </p:nvSpPr>
        <p:spPr>
          <a:xfrm>
            <a:off x="9966960" y="356616"/>
            <a:ext cx="1600200" cy="256032"/>
          </a:xfrm>
          <a:prstGeom prst="roundRect">
            <a:avLst>
              <a:gd name="adj" fmla="val 42857"/>
            </a:avLst>
          </a:prstGeom>
          <a:solidFill>
            <a:srgbClr val="FFF2D8"/>
          </a:solidFill>
          <a:ln w="7620">
            <a:solidFill>
              <a:srgbClr val="FFF2D8"/>
            </a:solidFill>
            <a:prstDash val="solid"/>
          </a:ln>
        </p:spPr>
      </p:sp>
      <p:sp>
        <p:nvSpPr>
          <p:cNvPr id="4" name="Text 2"/>
          <p:cNvSpPr txBox="1"/>
          <p:nvPr/>
        </p:nvSpPr>
        <p:spPr>
          <a:xfrm>
            <a:off x="10012680" y="361188"/>
            <a:ext cx="1508760" cy="237744"/>
          </a:xfrm>
          <a:prstGeom prst="rect">
            <a:avLst/>
          </a:prstGeom>
          <a:noFill/>
          <a:ln/>
        </p:spPr>
        <p:txBody>
          <a:bodyPr wrap="square" lIns="0" tIns="0" rIns="0" bIns="0" rtlCol="0" anchor="ctr">
            <a:normAutofit/>
          </a:bodyPr>
          <a:lstStyle/>
          <a:p>
            <a:pPr algn="ctr" indent="0" marL="0">
              <a:buNone/>
            </a:pPr>
            <a:r>
              <a:rPr lang="en-US" sz="850" b="1" dirty="0">
                <a:solidFill>
                  <a:srgbClr val="A85D00"/>
                </a:solidFill>
                <a:latin typeface="Aptos" pitchFamily="34" charset="0"/>
                <a:ea typeface="Aptos" pitchFamily="34" charset="-122"/>
                <a:cs typeface="Aptos" pitchFamily="34" charset="-120"/>
              </a:rPr>
              <a:t>STUDENT PROTOTYPE</a:t>
            </a:r>
            <a:endParaRPr lang="en-US" sz="850" dirty="0"/>
          </a:p>
        </p:txBody>
      </p:sp>
      <p:sp>
        <p:nvSpPr>
          <p:cNvPr id="5" name="Text 3"/>
          <p:cNvSpPr txBox="1"/>
          <p:nvPr/>
        </p:nvSpPr>
        <p:spPr>
          <a:xfrm>
            <a:off x="594360" y="914400"/>
            <a:ext cx="6035040" cy="1005840"/>
          </a:xfrm>
          <a:prstGeom prst="rect">
            <a:avLst/>
          </a:prstGeom>
          <a:noFill/>
          <a:ln/>
        </p:spPr>
        <p:txBody>
          <a:bodyPr wrap="square" lIns="0" tIns="0" rIns="0" bIns="0" rtlCol="0" anchor="t">
            <a:normAutofit/>
          </a:bodyPr>
          <a:lstStyle/>
          <a:p>
            <a:pPr algn="l" indent="0" marL="0">
              <a:buNone/>
            </a:pPr>
            <a:r>
              <a:rPr lang="en-US" sz="3100" b="1" dirty="0">
                <a:solidFill>
                  <a:srgbClr val="14213D"/>
                </a:solidFill>
                <a:latin typeface="Aptos Display" pitchFamily="34" charset="0"/>
                <a:ea typeface="Aptos Display" pitchFamily="34" charset="-122"/>
                <a:cs typeface="Aptos Display" pitchFamily="34" charset="-120"/>
              </a:rPr>
              <a:t>Google Merchandise</a:t>
            </a:r>
            <a:endParaRPr lang="en-US" sz="3100" dirty="0"/>
          </a:p>
          <a:p>
            <a:pPr algn="l" indent="0" marL="0">
              <a:buNone/>
            </a:pPr>
            <a:r>
              <a:rPr lang="en-US" sz="3100" b="1" dirty="0">
                <a:solidFill>
                  <a:srgbClr val="14213D"/>
                </a:solidFill>
                <a:latin typeface="Aptos Display" pitchFamily="34" charset="0"/>
                <a:ea typeface="Aptos Display" pitchFamily="34" charset="-122"/>
                <a:cs typeface="Aptos Display" pitchFamily="34" charset="-120"/>
              </a:rPr>
              <a:t>Store</a:t>
            </a:r>
            <a:endParaRPr lang="en-US" sz="3100" dirty="0"/>
          </a:p>
        </p:txBody>
      </p:sp>
      <p:sp>
        <p:nvSpPr>
          <p:cNvPr id="6" name="Text 4"/>
          <p:cNvSpPr txBox="1"/>
          <p:nvPr/>
        </p:nvSpPr>
        <p:spPr>
          <a:xfrm>
            <a:off x="621792" y="2020824"/>
            <a:ext cx="6035040" cy="329184"/>
          </a:xfrm>
          <a:prstGeom prst="rect">
            <a:avLst/>
          </a:prstGeom>
          <a:noFill/>
          <a:ln/>
        </p:spPr>
        <p:txBody>
          <a:bodyPr wrap="square" lIns="0" tIns="0" rIns="0" bIns="0" rtlCol="0" anchor="ctr">
            <a:normAutofit/>
          </a:bodyPr>
          <a:lstStyle/>
          <a:p>
            <a:pPr algn="l" indent="0" marL="0">
              <a:buNone/>
            </a:pPr>
            <a:r>
              <a:rPr lang="en-US" sz="1700" b="1" dirty="0">
                <a:solidFill>
                  <a:srgbClr val="1A73E8"/>
                </a:solidFill>
                <a:latin typeface="Aptos" pitchFamily="34" charset="0"/>
                <a:ea typeface="Aptos" pitchFamily="34" charset="-122"/>
                <a:cs typeface="Aptos" pitchFamily="34" charset="-120"/>
              </a:rPr>
              <a:t>From website traffic to purchase conversion</a:t>
            </a:r>
            <a:endParaRPr lang="en-US" sz="1700" dirty="0"/>
          </a:p>
        </p:txBody>
      </p:sp>
      <p:sp>
        <p:nvSpPr>
          <p:cNvPr id="7" name="Text 5"/>
          <p:cNvSpPr txBox="1"/>
          <p:nvPr/>
        </p:nvSpPr>
        <p:spPr>
          <a:xfrm>
            <a:off x="621792" y="2450592"/>
            <a:ext cx="5897880" cy="585216"/>
          </a:xfrm>
          <a:prstGeom prst="rect">
            <a:avLst/>
          </a:prstGeom>
          <a:noFill/>
          <a:ln/>
        </p:spPr>
        <p:txBody>
          <a:bodyPr wrap="square" lIns="0" tIns="0" rIns="0" bIns="0" rtlCol="0" anchor="t">
            <a:normAutofit/>
          </a:bodyPr>
          <a:lstStyle/>
          <a:p>
            <a:pPr algn="l" indent="0" marL="0">
              <a:buNone/>
            </a:pPr>
            <a:r>
              <a:rPr lang="en-US" sz="1300" dirty="0">
                <a:solidFill>
                  <a:srgbClr val="566074"/>
                </a:solidFill>
                <a:latin typeface="Aptos" pitchFamily="34" charset="0"/>
                <a:ea typeface="Aptos" pitchFamily="34" charset="-122"/>
                <a:cs typeface="Aptos" pitchFamily="34" charset="-120"/>
              </a:rPr>
              <a:t>A KPI audit of what the store measures today—and which additional indicators could support better business decisions.</a:t>
            </a:r>
            <a:endParaRPr lang="en-US" sz="1300" dirty="0"/>
          </a:p>
        </p:txBody>
      </p:sp>
      <p:sp>
        <p:nvSpPr>
          <p:cNvPr id="8" name="Shape 6"/>
          <p:cNvSpPr/>
          <p:nvPr/>
        </p:nvSpPr>
        <p:spPr>
          <a:xfrm>
            <a:off x="621792" y="3246120"/>
            <a:ext cx="5961888" cy="1069848"/>
          </a:xfrm>
          <a:prstGeom prst="roundRect">
            <a:avLst>
              <a:gd name="adj" fmla="val 10256"/>
            </a:avLst>
          </a:prstGeom>
          <a:solidFill>
            <a:srgbClr val="14213D"/>
          </a:solidFill>
          <a:ln w="10160">
            <a:solidFill>
              <a:srgbClr val="14213D"/>
            </a:solidFill>
            <a:prstDash val="solid"/>
          </a:ln>
        </p:spPr>
      </p:sp>
      <p:sp>
        <p:nvSpPr>
          <p:cNvPr id="9" name="Text 7"/>
          <p:cNvSpPr txBox="1"/>
          <p:nvPr/>
        </p:nvSpPr>
        <p:spPr>
          <a:xfrm>
            <a:off x="841248" y="3429000"/>
            <a:ext cx="2011680" cy="182880"/>
          </a:xfrm>
          <a:prstGeom prst="rect">
            <a:avLst/>
          </a:prstGeom>
          <a:noFill/>
          <a:ln/>
        </p:spPr>
        <p:txBody>
          <a:bodyPr wrap="square" lIns="0" tIns="0" rIns="0" bIns="0" rtlCol="0" anchor="ctr">
            <a:normAutofit/>
          </a:bodyPr>
          <a:lstStyle/>
          <a:p>
            <a:pPr algn="l" indent="0" marL="0">
              <a:buNone/>
            </a:pPr>
            <a:r>
              <a:rPr lang="en-US" sz="880" b="1" spc="80" kern="0" dirty="0">
                <a:solidFill>
                  <a:srgbClr val="9FC5FF"/>
                </a:solidFill>
                <a:latin typeface="Aptos" pitchFamily="34" charset="0"/>
                <a:ea typeface="Aptos" pitchFamily="34" charset="-122"/>
                <a:cs typeface="Aptos" pitchFamily="34" charset="-120"/>
              </a:rPr>
              <a:t>THE BUSINESS QUESTION</a:t>
            </a:r>
            <a:endParaRPr lang="en-US" sz="880" dirty="0"/>
          </a:p>
        </p:txBody>
      </p:sp>
      <p:sp>
        <p:nvSpPr>
          <p:cNvPr id="10" name="Text 8"/>
          <p:cNvSpPr txBox="1"/>
          <p:nvPr/>
        </p:nvSpPr>
        <p:spPr>
          <a:xfrm>
            <a:off x="841248" y="3675888"/>
            <a:ext cx="5440680" cy="438912"/>
          </a:xfrm>
          <a:prstGeom prst="rect">
            <a:avLst/>
          </a:prstGeom>
          <a:noFill/>
          <a:ln/>
        </p:spPr>
        <p:txBody>
          <a:bodyPr wrap="square" lIns="0" tIns="0" rIns="0" bIns="0" rtlCol="0" anchor="t">
            <a:normAutofit/>
          </a:bodyPr>
          <a:lstStyle/>
          <a:p>
            <a:pPr algn="l" indent="0" marL="0">
              <a:buNone/>
            </a:pPr>
            <a:r>
              <a:rPr lang="en-US" sz="1340" b="1" dirty="0">
                <a:solidFill>
                  <a:srgbClr val="FFFFFF"/>
                </a:solidFill>
                <a:latin typeface="Aptos" pitchFamily="34" charset="0"/>
                <a:ea typeface="Aptos" pitchFamily="34" charset="-122"/>
                <a:cs typeface="Aptos" pitchFamily="34" charset="-120"/>
              </a:rPr>
              <a:t>Are traffic, product engagement and purchases enough to explain where the journey leaks—and which channels create value?</a:t>
            </a:r>
            <a:endParaRPr lang="en-US" sz="1340" dirty="0"/>
          </a:p>
        </p:txBody>
      </p:sp>
      <p:sp>
        <p:nvSpPr>
          <p:cNvPr id="11" name="Shape 9"/>
          <p:cNvSpPr/>
          <p:nvPr/>
        </p:nvSpPr>
        <p:spPr>
          <a:xfrm>
            <a:off x="6967728" y="804672"/>
            <a:ext cx="4608576" cy="3803904"/>
          </a:xfrm>
          <a:prstGeom prst="roundRect">
            <a:avLst>
              <a:gd name="adj" fmla="val 3365"/>
            </a:avLst>
          </a:prstGeom>
          <a:solidFill>
            <a:srgbClr val="FFFFFF"/>
          </a:solidFill>
          <a:ln w="10160">
            <a:solidFill>
              <a:srgbClr val="E1E5EE"/>
            </a:solidFill>
            <a:prstDash val="solid"/>
          </a:ln>
        </p:spPr>
      </p:sp>
      <p:sp>
        <p:nvSpPr>
          <p:cNvPr id="12" name="Text 10"/>
          <p:cNvSpPr txBox="1"/>
          <p:nvPr/>
        </p:nvSpPr>
        <p:spPr>
          <a:xfrm>
            <a:off x="7242048" y="1024128"/>
            <a:ext cx="4023360" cy="228600"/>
          </a:xfrm>
          <a:prstGeom prst="rect">
            <a:avLst/>
          </a:prstGeom>
          <a:noFill/>
          <a:ln/>
        </p:spPr>
        <p:txBody>
          <a:bodyPr wrap="square" lIns="0" tIns="0" rIns="0" bIns="0" rtlCol="0" anchor="ctr">
            <a:normAutofit/>
          </a:bodyPr>
          <a:lstStyle/>
          <a:p>
            <a:pPr algn="l" indent="0" marL="0">
              <a:buNone/>
            </a:pPr>
            <a:r>
              <a:rPr lang="en-US" sz="1250" b="1" dirty="0">
                <a:solidFill>
                  <a:srgbClr val="14213D"/>
                </a:solidFill>
                <a:latin typeface="Aptos" pitchFamily="34" charset="0"/>
                <a:ea typeface="Aptos" pitchFamily="34" charset="-122"/>
                <a:cs typeface="Aptos" pitchFamily="34" charset="-120"/>
              </a:rPr>
              <a:t>THE CUSTOMER JOURNEY</a:t>
            </a:r>
            <a:endParaRPr lang="en-US" sz="1250" dirty="0"/>
          </a:p>
        </p:txBody>
      </p:sp>
      <p:sp>
        <p:nvSpPr>
          <p:cNvPr id="13" name="Text 11"/>
          <p:cNvSpPr txBox="1"/>
          <p:nvPr/>
        </p:nvSpPr>
        <p:spPr>
          <a:xfrm>
            <a:off x="7242048" y="1298448"/>
            <a:ext cx="4023360" cy="201168"/>
          </a:xfrm>
          <a:prstGeom prst="rect">
            <a:avLst/>
          </a:prstGeom>
          <a:noFill/>
          <a:ln/>
        </p:spPr>
        <p:txBody>
          <a:bodyPr wrap="square" lIns="0" tIns="0" rIns="0" bIns="0" rtlCol="0" anchor="ctr">
            <a:normAutofit/>
          </a:bodyPr>
          <a:lstStyle/>
          <a:p>
            <a:pPr algn="l" indent="0" marL="0">
              <a:buNone/>
            </a:pPr>
            <a:r>
              <a:rPr lang="en-US" sz="880" dirty="0">
                <a:solidFill>
                  <a:srgbClr val="566074"/>
                </a:solidFill>
                <a:latin typeface="Aptos" pitchFamily="34" charset="0"/>
                <a:ea typeface="Aptos" pitchFamily="34" charset="-122"/>
                <a:cs typeface="Aptos" pitchFamily="34" charset="-120"/>
              </a:rPr>
              <a:t>Observed users across five configured stages</a:t>
            </a:r>
            <a:endParaRPr lang="en-US" sz="880" dirty="0"/>
          </a:p>
        </p:txBody>
      </p:sp>
      <p:sp>
        <p:nvSpPr>
          <p:cNvPr id="14" name="Text 12"/>
          <p:cNvSpPr txBox="1"/>
          <p:nvPr/>
        </p:nvSpPr>
        <p:spPr>
          <a:xfrm>
            <a:off x="7260336" y="1700784"/>
            <a:ext cx="1225296" cy="192024"/>
          </a:xfrm>
          <a:prstGeom prst="rect">
            <a:avLst/>
          </a:prstGeom>
          <a:noFill/>
          <a:ln/>
        </p:spPr>
        <p:txBody>
          <a:bodyPr wrap="square" lIns="0" tIns="0" rIns="0" bIns="0" rtlCol="0" anchor="ctr">
            <a:normAutofit/>
          </a:bodyPr>
          <a:lstStyle/>
          <a:p>
            <a:pPr algn="l" indent="0" marL="0">
              <a:buNone/>
            </a:pPr>
            <a:r>
              <a:rPr lang="en-US" sz="900" dirty="0">
                <a:solidFill>
                  <a:srgbClr val="1B2433"/>
                </a:solidFill>
                <a:latin typeface="Aptos" pitchFamily="34" charset="0"/>
                <a:ea typeface="Aptos" pitchFamily="34" charset="-122"/>
                <a:cs typeface="Aptos" pitchFamily="34" charset="-120"/>
              </a:rPr>
              <a:t>Session start</a:t>
            </a:r>
            <a:endParaRPr lang="en-US" sz="900" dirty="0"/>
          </a:p>
        </p:txBody>
      </p:sp>
      <p:sp>
        <p:nvSpPr>
          <p:cNvPr id="15" name="Shape 13"/>
          <p:cNvSpPr/>
          <p:nvPr/>
        </p:nvSpPr>
        <p:spPr>
          <a:xfrm>
            <a:off x="8494776" y="1728216"/>
            <a:ext cx="1920240" cy="137160"/>
          </a:xfrm>
          <a:prstGeom prst="roundRect">
            <a:avLst>
              <a:gd name="adj" fmla="val 26667"/>
            </a:avLst>
          </a:prstGeom>
          <a:solidFill>
            <a:srgbClr val="14213D"/>
          </a:solidFill>
          <a:ln w="12700">
            <a:solidFill>
              <a:srgbClr val="14213D"/>
            </a:solidFill>
            <a:prstDash val="solid"/>
          </a:ln>
        </p:spPr>
      </p:sp>
      <p:sp>
        <p:nvSpPr>
          <p:cNvPr id="16" name="Text 14"/>
          <p:cNvSpPr txBox="1"/>
          <p:nvPr/>
        </p:nvSpPr>
        <p:spPr>
          <a:xfrm>
            <a:off x="10533888" y="1700784"/>
            <a:ext cx="749808" cy="201168"/>
          </a:xfrm>
          <a:prstGeom prst="rect">
            <a:avLst/>
          </a:prstGeom>
          <a:noFill/>
          <a:ln/>
        </p:spPr>
        <p:txBody>
          <a:bodyPr wrap="square" lIns="0" tIns="0" rIns="0" bIns="0" rtlCol="0" anchor="ctr">
            <a:normAutofit/>
          </a:bodyPr>
          <a:lstStyle/>
          <a:p>
            <a:pPr algn="r" indent="0" marL="0">
              <a:buNone/>
            </a:pPr>
            <a:r>
              <a:rPr lang="en-US" sz="880" b="1" dirty="0">
                <a:solidFill>
                  <a:srgbClr val="14213D"/>
                </a:solidFill>
                <a:latin typeface="Aptos" pitchFamily="34" charset="0"/>
                <a:ea typeface="Aptos" pitchFamily="34" charset="-122"/>
                <a:cs typeface="Aptos" pitchFamily="34" charset="-120"/>
              </a:rPr>
              <a:t>90,809</a:t>
            </a:r>
            <a:endParaRPr lang="en-US" sz="880" dirty="0"/>
          </a:p>
        </p:txBody>
      </p:sp>
      <p:sp>
        <p:nvSpPr>
          <p:cNvPr id="17" name="Text 15"/>
          <p:cNvSpPr txBox="1"/>
          <p:nvPr/>
        </p:nvSpPr>
        <p:spPr>
          <a:xfrm>
            <a:off x="7260336" y="2148840"/>
            <a:ext cx="1225296" cy="192024"/>
          </a:xfrm>
          <a:prstGeom prst="rect">
            <a:avLst/>
          </a:prstGeom>
          <a:noFill/>
          <a:ln/>
        </p:spPr>
        <p:txBody>
          <a:bodyPr wrap="square" lIns="0" tIns="0" rIns="0" bIns="0" rtlCol="0" anchor="ctr">
            <a:normAutofit/>
          </a:bodyPr>
          <a:lstStyle/>
          <a:p>
            <a:pPr algn="l" indent="0" marL="0">
              <a:buNone/>
            </a:pPr>
            <a:r>
              <a:rPr lang="en-US" sz="900" dirty="0">
                <a:solidFill>
                  <a:srgbClr val="1B2433"/>
                </a:solidFill>
                <a:latin typeface="Aptos" pitchFamily="34" charset="0"/>
                <a:ea typeface="Aptos" pitchFamily="34" charset="-122"/>
                <a:cs typeface="Aptos" pitchFamily="34" charset="-120"/>
              </a:rPr>
              <a:t>View product</a:t>
            </a:r>
            <a:endParaRPr lang="en-US" sz="900" dirty="0"/>
          </a:p>
        </p:txBody>
      </p:sp>
      <p:sp>
        <p:nvSpPr>
          <p:cNvPr id="18" name="Shape 16"/>
          <p:cNvSpPr/>
          <p:nvPr/>
        </p:nvSpPr>
        <p:spPr>
          <a:xfrm>
            <a:off x="8494776" y="2176272"/>
            <a:ext cx="458232" cy="137160"/>
          </a:xfrm>
          <a:prstGeom prst="roundRect">
            <a:avLst>
              <a:gd name="adj" fmla="val 26667"/>
            </a:avLst>
          </a:prstGeom>
          <a:solidFill>
            <a:srgbClr val="1A73E8"/>
          </a:solidFill>
          <a:ln w="12700">
            <a:solidFill>
              <a:srgbClr val="1A73E8"/>
            </a:solidFill>
            <a:prstDash val="solid"/>
          </a:ln>
        </p:spPr>
      </p:sp>
      <p:sp>
        <p:nvSpPr>
          <p:cNvPr id="19" name="Text 17"/>
          <p:cNvSpPr txBox="1"/>
          <p:nvPr/>
        </p:nvSpPr>
        <p:spPr>
          <a:xfrm>
            <a:off x="10533888" y="2148840"/>
            <a:ext cx="749808" cy="201168"/>
          </a:xfrm>
          <a:prstGeom prst="rect">
            <a:avLst/>
          </a:prstGeom>
          <a:noFill/>
          <a:ln/>
        </p:spPr>
        <p:txBody>
          <a:bodyPr wrap="square" lIns="0" tIns="0" rIns="0" bIns="0" rtlCol="0" anchor="ctr">
            <a:normAutofit/>
          </a:bodyPr>
          <a:lstStyle/>
          <a:p>
            <a:pPr algn="r" indent="0" marL="0">
              <a:buNone/>
            </a:pPr>
            <a:r>
              <a:rPr lang="en-US" sz="880" b="1" dirty="0">
                <a:solidFill>
                  <a:srgbClr val="14213D"/>
                </a:solidFill>
                <a:latin typeface="Aptos" pitchFamily="34" charset="0"/>
                <a:ea typeface="Aptos" pitchFamily="34" charset="-122"/>
                <a:cs typeface="Aptos" pitchFamily="34" charset="-120"/>
              </a:rPr>
              <a:t>21,670</a:t>
            </a:r>
            <a:endParaRPr lang="en-US" sz="880" dirty="0"/>
          </a:p>
        </p:txBody>
      </p:sp>
      <p:sp>
        <p:nvSpPr>
          <p:cNvPr id="20" name="Text 18"/>
          <p:cNvSpPr txBox="1"/>
          <p:nvPr/>
        </p:nvSpPr>
        <p:spPr>
          <a:xfrm>
            <a:off x="7260336" y="2596896"/>
            <a:ext cx="1225296" cy="192024"/>
          </a:xfrm>
          <a:prstGeom prst="rect">
            <a:avLst/>
          </a:prstGeom>
          <a:noFill/>
          <a:ln/>
        </p:spPr>
        <p:txBody>
          <a:bodyPr wrap="square" lIns="0" tIns="0" rIns="0" bIns="0" rtlCol="0" anchor="ctr">
            <a:normAutofit/>
          </a:bodyPr>
          <a:lstStyle/>
          <a:p>
            <a:pPr algn="l" indent="0" marL="0">
              <a:buNone/>
            </a:pPr>
            <a:r>
              <a:rPr lang="en-US" sz="900" dirty="0">
                <a:solidFill>
                  <a:srgbClr val="1B2433"/>
                </a:solidFill>
                <a:latin typeface="Aptos" pitchFamily="34" charset="0"/>
                <a:ea typeface="Aptos" pitchFamily="34" charset="-122"/>
                <a:cs typeface="Aptos" pitchFamily="34" charset="-120"/>
              </a:rPr>
              <a:t>Add to cart</a:t>
            </a:r>
            <a:endParaRPr lang="en-US" sz="900" dirty="0"/>
          </a:p>
        </p:txBody>
      </p:sp>
      <p:sp>
        <p:nvSpPr>
          <p:cNvPr id="21" name="Shape 19"/>
          <p:cNvSpPr/>
          <p:nvPr/>
        </p:nvSpPr>
        <p:spPr>
          <a:xfrm>
            <a:off x="8494776" y="2624328"/>
            <a:ext cx="141762" cy="137160"/>
          </a:xfrm>
          <a:prstGeom prst="roundRect">
            <a:avLst>
              <a:gd name="adj" fmla="val 26667"/>
            </a:avLst>
          </a:prstGeom>
          <a:solidFill>
            <a:srgbClr val="1A73E8"/>
          </a:solidFill>
          <a:ln w="12700">
            <a:solidFill>
              <a:srgbClr val="1A73E8"/>
            </a:solidFill>
            <a:prstDash val="solid"/>
          </a:ln>
        </p:spPr>
      </p:sp>
      <p:sp>
        <p:nvSpPr>
          <p:cNvPr id="22" name="Text 20"/>
          <p:cNvSpPr txBox="1"/>
          <p:nvPr/>
        </p:nvSpPr>
        <p:spPr>
          <a:xfrm>
            <a:off x="10533888" y="2596896"/>
            <a:ext cx="749808" cy="201168"/>
          </a:xfrm>
          <a:prstGeom prst="rect">
            <a:avLst/>
          </a:prstGeom>
          <a:noFill/>
          <a:ln/>
        </p:spPr>
        <p:txBody>
          <a:bodyPr wrap="square" lIns="0" tIns="0" rIns="0" bIns="0" rtlCol="0" anchor="ctr">
            <a:normAutofit/>
          </a:bodyPr>
          <a:lstStyle/>
          <a:p>
            <a:pPr algn="r" indent="0" marL="0">
              <a:buNone/>
            </a:pPr>
            <a:r>
              <a:rPr lang="en-US" sz="880" b="1" dirty="0">
                <a:solidFill>
                  <a:srgbClr val="14213D"/>
                </a:solidFill>
                <a:latin typeface="Aptos" pitchFamily="34" charset="0"/>
                <a:ea typeface="Aptos" pitchFamily="34" charset="-122"/>
                <a:cs typeface="Aptos" pitchFamily="34" charset="-120"/>
              </a:rPr>
              <a:t>6,704</a:t>
            </a:r>
            <a:endParaRPr lang="en-US" sz="880" dirty="0"/>
          </a:p>
        </p:txBody>
      </p:sp>
      <p:sp>
        <p:nvSpPr>
          <p:cNvPr id="23" name="Text 21"/>
          <p:cNvSpPr txBox="1"/>
          <p:nvPr/>
        </p:nvSpPr>
        <p:spPr>
          <a:xfrm>
            <a:off x="7260336" y="3044952"/>
            <a:ext cx="1225296" cy="192024"/>
          </a:xfrm>
          <a:prstGeom prst="rect">
            <a:avLst/>
          </a:prstGeom>
          <a:noFill/>
          <a:ln/>
        </p:spPr>
        <p:txBody>
          <a:bodyPr wrap="square" lIns="0" tIns="0" rIns="0" bIns="0" rtlCol="0" anchor="ctr">
            <a:normAutofit/>
          </a:bodyPr>
          <a:lstStyle/>
          <a:p>
            <a:pPr algn="l" indent="0" marL="0">
              <a:buNone/>
            </a:pPr>
            <a:r>
              <a:rPr lang="en-US" sz="900" dirty="0">
                <a:solidFill>
                  <a:srgbClr val="1B2433"/>
                </a:solidFill>
                <a:latin typeface="Aptos" pitchFamily="34" charset="0"/>
                <a:ea typeface="Aptos" pitchFamily="34" charset="-122"/>
                <a:cs typeface="Aptos" pitchFamily="34" charset="-120"/>
              </a:rPr>
              <a:t>Begin checkout</a:t>
            </a:r>
            <a:endParaRPr lang="en-US" sz="900" dirty="0"/>
          </a:p>
        </p:txBody>
      </p:sp>
      <p:sp>
        <p:nvSpPr>
          <p:cNvPr id="24" name="Shape 22"/>
          <p:cNvSpPr/>
          <p:nvPr/>
        </p:nvSpPr>
        <p:spPr>
          <a:xfrm>
            <a:off x="8494776" y="3072384"/>
            <a:ext cx="91440" cy="137160"/>
          </a:xfrm>
          <a:prstGeom prst="roundRect">
            <a:avLst>
              <a:gd name="adj" fmla="val 40000"/>
            </a:avLst>
          </a:prstGeom>
          <a:solidFill>
            <a:srgbClr val="1A73E8"/>
          </a:solidFill>
          <a:ln w="12700">
            <a:solidFill>
              <a:srgbClr val="1A73E8"/>
            </a:solidFill>
            <a:prstDash val="solid"/>
          </a:ln>
        </p:spPr>
      </p:sp>
      <p:sp>
        <p:nvSpPr>
          <p:cNvPr id="25" name="Text 23"/>
          <p:cNvSpPr txBox="1"/>
          <p:nvPr/>
        </p:nvSpPr>
        <p:spPr>
          <a:xfrm>
            <a:off x="10533888" y="3044952"/>
            <a:ext cx="749808" cy="201168"/>
          </a:xfrm>
          <a:prstGeom prst="rect">
            <a:avLst/>
          </a:prstGeom>
          <a:noFill/>
          <a:ln/>
        </p:spPr>
        <p:txBody>
          <a:bodyPr wrap="square" lIns="0" tIns="0" rIns="0" bIns="0" rtlCol="0" anchor="ctr">
            <a:normAutofit/>
          </a:bodyPr>
          <a:lstStyle/>
          <a:p>
            <a:pPr algn="r" indent="0" marL="0">
              <a:buNone/>
            </a:pPr>
            <a:r>
              <a:rPr lang="en-US" sz="880" b="1" dirty="0">
                <a:solidFill>
                  <a:srgbClr val="14213D"/>
                </a:solidFill>
                <a:latin typeface="Aptos" pitchFamily="34" charset="0"/>
                <a:ea typeface="Aptos" pitchFamily="34" charset="-122"/>
                <a:cs typeface="Aptos" pitchFamily="34" charset="-120"/>
              </a:rPr>
              <a:t>3,625</a:t>
            </a:r>
            <a:endParaRPr lang="en-US" sz="880" dirty="0"/>
          </a:p>
        </p:txBody>
      </p:sp>
      <p:sp>
        <p:nvSpPr>
          <p:cNvPr id="26" name="Text 24"/>
          <p:cNvSpPr txBox="1"/>
          <p:nvPr/>
        </p:nvSpPr>
        <p:spPr>
          <a:xfrm>
            <a:off x="7260336" y="3493008"/>
            <a:ext cx="1225296" cy="192024"/>
          </a:xfrm>
          <a:prstGeom prst="rect">
            <a:avLst/>
          </a:prstGeom>
          <a:noFill/>
          <a:ln/>
        </p:spPr>
        <p:txBody>
          <a:bodyPr wrap="square" lIns="0" tIns="0" rIns="0" bIns="0" rtlCol="0" anchor="ctr">
            <a:normAutofit/>
          </a:bodyPr>
          <a:lstStyle/>
          <a:p>
            <a:pPr algn="l" indent="0" marL="0">
              <a:buNone/>
            </a:pPr>
            <a:r>
              <a:rPr lang="en-US" sz="900" dirty="0">
                <a:solidFill>
                  <a:srgbClr val="1B2433"/>
                </a:solidFill>
                <a:latin typeface="Aptos" pitchFamily="34" charset="0"/>
                <a:ea typeface="Aptos" pitchFamily="34" charset="-122"/>
                <a:cs typeface="Aptos" pitchFamily="34" charset="-120"/>
              </a:rPr>
              <a:t>Purchase</a:t>
            </a:r>
            <a:endParaRPr lang="en-US" sz="900" dirty="0"/>
          </a:p>
        </p:txBody>
      </p:sp>
      <p:sp>
        <p:nvSpPr>
          <p:cNvPr id="27" name="Shape 25"/>
          <p:cNvSpPr/>
          <p:nvPr/>
        </p:nvSpPr>
        <p:spPr>
          <a:xfrm>
            <a:off x="8494776" y="3520440"/>
            <a:ext cx="91440" cy="137160"/>
          </a:xfrm>
          <a:prstGeom prst="roundRect">
            <a:avLst>
              <a:gd name="adj" fmla="val 40000"/>
            </a:avLst>
          </a:prstGeom>
          <a:solidFill>
            <a:srgbClr val="1A73E8"/>
          </a:solidFill>
          <a:ln w="12700">
            <a:solidFill>
              <a:srgbClr val="1A73E8"/>
            </a:solidFill>
            <a:prstDash val="solid"/>
          </a:ln>
        </p:spPr>
      </p:sp>
      <p:sp>
        <p:nvSpPr>
          <p:cNvPr id="28" name="Text 26"/>
          <p:cNvSpPr txBox="1"/>
          <p:nvPr/>
        </p:nvSpPr>
        <p:spPr>
          <a:xfrm>
            <a:off x="10533888" y="3493008"/>
            <a:ext cx="749808" cy="201168"/>
          </a:xfrm>
          <a:prstGeom prst="rect">
            <a:avLst/>
          </a:prstGeom>
          <a:noFill/>
          <a:ln/>
        </p:spPr>
        <p:txBody>
          <a:bodyPr wrap="square" lIns="0" tIns="0" rIns="0" bIns="0" rtlCol="0" anchor="ctr">
            <a:normAutofit/>
          </a:bodyPr>
          <a:lstStyle/>
          <a:p>
            <a:pPr algn="r" indent="0" marL="0">
              <a:buNone/>
            </a:pPr>
            <a:r>
              <a:rPr lang="en-US" sz="880" b="1" dirty="0">
                <a:solidFill>
                  <a:srgbClr val="14213D"/>
                </a:solidFill>
                <a:latin typeface="Aptos" pitchFamily="34" charset="0"/>
                <a:ea typeface="Aptos" pitchFamily="34" charset="-122"/>
                <a:cs typeface="Aptos" pitchFamily="34" charset="-120"/>
              </a:rPr>
              <a:t>1,902</a:t>
            </a:r>
            <a:endParaRPr lang="en-US" sz="880" dirty="0"/>
          </a:p>
        </p:txBody>
      </p:sp>
      <p:sp>
        <p:nvSpPr>
          <p:cNvPr id="29" name="Shape 27"/>
          <p:cNvSpPr/>
          <p:nvPr/>
        </p:nvSpPr>
        <p:spPr>
          <a:xfrm>
            <a:off x="7242048" y="3995928"/>
            <a:ext cx="4050792" cy="0"/>
          </a:xfrm>
          <a:prstGeom prst="line">
            <a:avLst/>
          </a:prstGeom>
          <a:noFill/>
          <a:ln w="10160">
            <a:solidFill>
              <a:srgbClr val="E1E5EE"/>
            </a:solidFill>
            <a:prstDash val="solid"/>
          </a:ln>
        </p:spPr>
      </p:sp>
      <p:sp>
        <p:nvSpPr>
          <p:cNvPr id="30" name="Text 28"/>
          <p:cNvSpPr txBox="1"/>
          <p:nvPr/>
        </p:nvSpPr>
        <p:spPr>
          <a:xfrm>
            <a:off x="7260336" y="4096512"/>
            <a:ext cx="1170432" cy="246888"/>
          </a:xfrm>
          <a:prstGeom prst="rect">
            <a:avLst/>
          </a:prstGeom>
          <a:noFill/>
          <a:ln/>
        </p:spPr>
        <p:txBody>
          <a:bodyPr wrap="square" lIns="0" tIns="0" rIns="0" bIns="0" rtlCol="0" anchor="ctr">
            <a:normAutofit/>
          </a:bodyPr>
          <a:lstStyle/>
          <a:p>
            <a:pPr algn="l" indent="0" marL="0">
              <a:buNone/>
            </a:pPr>
            <a:r>
              <a:rPr lang="en-US" sz="1800" b="1" dirty="0">
                <a:solidFill>
                  <a:srgbClr val="1A73E8"/>
                </a:solidFill>
                <a:latin typeface="Aptos" pitchFamily="34" charset="0"/>
                <a:ea typeface="Aptos" pitchFamily="34" charset="-122"/>
                <a:cs typeface="Aptos" pitchFamily="34" charset="-120"/>
              </a:rPr>
              <a:t>2.09%</a:t>
            </a:r>
            <a:endParaRPr lang="en-US" sz="1800" dirty="0"/>
          </a:p>
        </p:txBody>
      </p:sp>
      <p:sp>
        <p:nvSpPr>
          <p:cNvPr id="31" name="Text 29"/>
          <p:cNvSpPr txBox="1"/>
          <p:nvPr/>
        </p:nvSpPr>
        <p:spPr>
          <a:xfrm>
            <a:off x="8439912" y="4105656"/>
            <a:ext cx="2743200" cy="219456"/>
          </a:xfrm>
          <a:prstGeom prst="rect">
            <a:avLst/>
          </a:prstGeom>
          <a:noFill/>
          <a:ln/>
        </p:spPr>
        <p:txBody>
          <a:bodyPr wrap="square" lIns="0" tIns="0" rIns="0" bIns="0" rtlCol="0" anchor="ctr">
            <a:normAutofit/>
          </a:bodyPr>
          <a:lstStyle/>
          <a:p>
            <a:pPr algn="l" indent="0" marL="0">
              <a:buNone/>
            </a:pPr>
            <a:r>
              <a:rPr lang="en-US" sz="1030" b="1" dirty="0">
                <a:solidFill>
                  <a:srgbClr val="14213D"/>
                </a:solidFill>
                <a:latin typeface="Aptos" pitchFamily="34" charset="0"/>
                <a:ea typeface="Aptos" pitchFamily="34" charset="-122"/>
                <a:cs typeface="Aptos" pitchFamily="34" charset="-120"/>
              </a:rPr>
              <a:t>configured-funnel completion</a:t>
            </a:r>
            <a:endParaRPr lang="en-US" sz="1030" dirty="0"/>
          </a:p>
        </p:txBody>
      </p:sp>
      <p:sp>
        <p:nvSpPr>
          <p:cNvPr id="32" name="Text 30"/>
          <p:cNvSpPr txBox="1"/>
          <p:nvPr/>
        </p:nvSpPr>
        <p:spPr>
          <a:xfrm>
            <a:off x="7260336" y="4352544"/>
            <a:ext cx="3840480" cy="164592"/>
          </a:xfrm>
          <a:prstGeom prst="rect">
            <a:avLst/>
          </a:prstGeom>
          <a:noFill/>
          <a:ln/>
        </p:spPr>
        <p:txBody>
          <a:bodyPr wrap="square" lIns="0" tIns="0" rIns="0" bIns="0" rtlCol="0" anchor="ctr">
            <a:normAutofit/>
          </a:bodyPr>
          <a:lstStyle/>
          <a:p>
            <a:pPr algn="l" indent="0" marL="0">
              <a:buNone/>
            </a:pPr>
            <a:r>
              <a:rPr lang="en-US" sz="820" dirty="0">
                <a:solidFill>
                  <a:srgbClr val="566074"/>
                </a:solidFill>
                <a:latin typeface="Aptos" pitchFamily="34" charset="0"/>
                <a:ea typeface="Aptos" pitchFamily="34" charset="-122"/>
                <a:cs typeface="Aptos" pitchFamily="34" charset="-120"/>
              </a:rPr>
              <a:t>User-based ratio—not session purchase conversion.</a:t>
            </a:r>
            <a:endParaRPr lang="en-US" sz="820" dirty="0"/>
          </a:p>
        </p:txBody>
      </p:sp>
      <p:sp>
        <p:nvSpPr>
          <p:cNvPr id="33" name="Shape 31"/>
          <p:cNvSpPr/>
          <p:nvPr/>
        </p:nvSpPr>
        <p:spPr>
          <a:xfrm>
            <a:off x="621792" y="4736592"/>
            <a:ext cx="2642616" cy="1170432"/>
          </a:xfrm>
          <a:prstGeom prst="roundRect">
            <a:avLst>
              <a:gd name="adj" fmla="val 9375"/>
            </a:avLst>
          </a:prstGeom>
          <a:solidFill>
            <a:srgbClr val="FFFFFF"/>
          </a:solidFill>
          <a:ln w="10160">
            <a:solidFill>
              <a:srgbClr val="E1E5EE"/>
            </a:solidFill>
            <a:prstDash val="solid"/>
          </a:ln>
        </p:spPr>
      </p:sp>
      <p:sp>
        <p:nvSpPr>
          <p:cNvPr id="34" name="Shape 32"/>
          <p:cNvSpPr/>
          <p:nvPr/>
        </p:nvSpPr>
        <p:spPr>
          <a:xfrm>
            <a:off x="621792" y="4846320"/>
            <a:ext cx="41148" cy="950976"/>
          </a:xfrm>
          <a:prstGeom prst="rect">
            <a:avLst/>
          </a:prstGeom>
          <a:solidFill>
            <a:srgbClr val="1A73E8"/>
          </a:solidFill>
          <a:ln w="12700">
            <a:solidFill>
              <a:srgbClr val="1A73E8"/>
            </a:solidFill>
            <a:prstDash val="solid"/>
          </a:ln>
        </p:spPr>
      </p:sp>
      <p:sp>
        <p:nvSpPr>
          <p:cNvPr id="35" name="Text 33"/>
          <p:cNvSpPr txBox="1"/>
          <p:nvPr/>
        </p:nvSpPr>
        <p:spPr>
          <a:xfrm>
            <a:off x="786384" y="4855464"/>
            <a:ext cx="2350008" cy="228600"/>
          </a:xfrm>
          <a:prstGeom prst="rect">
            <a:avLst/>
          </a:prstGeom>
          <a:noFill/>
          <a:ln/>
        </p:spPr>
        <p:txBody>
          <a:bodyPr wrap="square" lIns="0" tIns="0" rIns="0" bIns="0" rtlCol="0" anchor="ctr">
            <a:normAutofit/>
          </a:bodyPr>
          <a:lstStyle/>
          <a:p>
            <a:pPr algn="l" indent="0" marL="0">
              <a:buNone/>
            </a:pPr>
            <a:r>
              <a:rPr lang="en-US" sz="930" b="1" dirty="0">
                <a:solidFill>
                  <a:srgbClr val="566074"/>
                </a:solidFill>
                <a:latin typeface="Aptos" pitchFamily="34" charset="0"/>
                <a:ea typeface="Aptos" pitchFamily="34" charset="-122"/>
                <a:cs typeface="Aptos" pitchFamily="34" charset="-120"/>
              </a:rPr>
              <a:t>SESSIONS</a:t>
            </a:r>
            <a:endParaRPr lang="en-US" sz="930" dirty="0"/>
          </a:p>
        </p:txBody>
      </p:sp>
      <p:sp>
        <p:nvSpPr>
          <p:cNvPr id="36" name="Text 34"/>
          <p:cNvSpPr txBox="1"/>
          <p:nvPr/>
        </p:nvSpPr>
        <p:spPr>
          <a:xfrm>
            <a:off x="786384" y="5120640"/>
            <a:ext cx="2350008" cy="365760"/>
          </a:xfrm>
          <a:prstGeom prst="rect">
            <a:avLst/>
          </a:prstGeom>
          <a:noFill/>
          <a:ln/>
        </p:spPr>
        <p:txBody>
          <a:bodyPr wrap="square" lIns="0" tIns="0" rIns="0" bIns="0" rtlCol="0" anchor="ctr">
            <a:normAutofit/>
          </a:bodyPr>
          <a:lstStyle/>
          <a:p>
            <a:pPr algn="l" indent="0" marL="0">
              <a:buNone/>
            </a:pPr>
            <a:r>
              <a:rPr lang="en-US" sz="2100" b="1" dirty="0">
                <a:solidFill>
                  <a:srgbClr val="14213D"/>
                </a:solidFill>
                <a:latin typeface="Aptos Display" pitchFamily="34" charset="0"/>
                <a:ea typeface="Aptos Display" pitchFamily="34" charset="-122"/>
                <a:cs typeface="Aptos Display" pitchFamily="34" charset="-120"/>
              </a:rPr>
              <a:t>131,106</a:t>
            </a:r>
            <a:endParaRPr lang="en-US" sz="2100" dirty="0"/>
          </a:p>
        </p:txBody>
      </p:sp>
      <p:sp>
        <p:nvSpPr>
          <p:cNvPr id="37" name="Text 35"/>
          <p:cNvSpPr txBox="1"/>
          <p:nvPr/>
        </p:nvSpPr>
        <p:spPr>
          <a:xfrm>
            <a:off x="786384" y="5504688"/>
            <a:ext cx="2350008" cy="329184"/>
          </a:xfrm>
          <a:prstGeom prst="rect">
            <a:avLst/>
          </a:prstGeom>
          <a:noFill/>
          <a:ln/>
        </p:spPr>
        <p:txBody>
          <a:bodyPr wrap="square" lIns="0" tIns="0" rIns="0" bIns="0" rtlCol="0" anchor="t">
            <a:normAutofit/>
          </a:bodyPr>
          <a:lstStyle/>
          <a:p>
            <a:pPr algn="l" indent="0" marL="0">
              <a:buNone/>
            </a:pPr>
            <a:r>
              <a:rPr lang="en-US" sz="820" dirty="0">
                <a:solidFill>
                  <a:srgbClr val="566074"/>
                </a:solidFill>
                <a:latin typeface="Aptos" pitchFamily="34" charset="0"/>
                <a:ea typeface="Aptos" pitchFamily="34" charset="-122"/>
                <a:cs typeface="Aptos" pitchFamily="34" charset="-120"/>
              </a:rPr>
              <a:t>Traffic acquisition report</a:t>
            </a:r>
            <a:endParaRPr lang="en-US" sz="820" dirty="0"/>
          </a:p>
        </p:txBody>
      </p:sp>
      <p:sp>
        <p:nvSpPr>
          <p:cNvPr id="38" name="Shape 36"/>
          <p:cNvSpPr/>
          <p:nvPr/>
        </p:nvSpPr>
        <p:spPr>
          <a:xfrm>
            <a:off x="3392424" y="4736592"/>
            <a:ext cx="2642616" cy="1170432"/>
          </a:xfrm>
          <a:prstGeom prst="roundRect">
            <a:avLst>
              <a:gd name="adj" fmla="val 9375"/>
            </a:avLst>
          </a:prstGeom>
          <a:solidFill>
            <a:srgbClr val="FFFFFF"/>
          </a:solidFill>
          <a:ln w="10160">
            <a:solidFill>
              <a:srgbClr val="E1E5EE"/>
            </a:solidFill>
            <a:prstDash val="solid"/>
          </a:ln>
        </p:spPr>
      </p:sp>
      <p:sp>
        <p:nvSpPr>
          <p:cNvPr id="39" name="Shape 37"/>
          <p:cNvSpPr/>
          <p:nvPr/>
        </p:nvSpPr>
        <p:spPr>
          <a:xfrm>
            <a:off x="3392424" y="4846320"/>
            <a:ext cx="41148" cy="950976"/>
          </a:xfrm>
          <a:prstGeom prst="rect">
            <a:avLst/>
          </a:prstGeom>
          <a:solidFill>
            <a:srgbClr val="168A84"/>
          </a:solidFill>
          <a:ln w="12700">
            <a:solidFill>
              <a:srgbClr val="168A84"/>
            </a:solidFill>
            <a:prstDash val="solid"/>
          </a:ln>
        </p:spPr>
      </p:sp>
      <p:sp>
        <p:nvSpPr>
          <p:cNvPr id="40" name="Text 38"/>
          <p:cNvSpPr txBox="1"/>
          <p:nvPr/>
        </p:nvSpPr>
        <p:spPr>
          <a:xfrm>
            <a:off x="3557016" y="4855464"/>
            <a:ext cx="2350008" cy="228600"/>
          </a:xfrm>
          <a:prstGeom prst="rect">
            <a:avLst/>
          </a:prstGeom>
          <a:noFill/>
          <a:ln/>
        </p:spPr>
        <p:txBody>
          <a:bodyPr wrap="square" lIns="0" tIns="0" rIns="0" bIns="0" rtlCol="0" anchor="ctr">
            <a:normAutofit/>
          </a:bodyPr>
          <a:lstStyle/>
          <a:p>
            <a:pPr algn="l" indent="0" marL="0">
              <a:buNone/>
            </a:pPr>
            <a:r>
              <a:rPr lang="en-US" sz="930" b="1" dirty="0">
                <a:solidFill>
                  <a:srgbClr val="566074"/>
                </a:solidFill>
                <a:latin typeface="Aptos" pitchFamily="34" charset="0"/>
                <a:ea typeface="Aptos" pitchFamily="34" charset="-122"/>
                <a:cs typeface="Aptos" pitchFamily="34" charset="-120"/>
              </a:rPr>
              <a:t>ENGAGEMENT RATE</a:t>
            </a:r>
            <a:endParaRPr lang="en-US" sz="930" dirty="0"/>
          </a:p>
        </p:txBody>
      </p:sp>
      <p:sp>
        <p:nvSpPr>
          <p:cNvPr id="41" name="Text 39"/>
          <p:cNvSpPr txBox="1"/>
          <p:nvPr/>
        </p:nvSpPr>
        <p:spPr>
          <a:xfrm>
            <a:off x="3557016" y="5120640"/>
            <a:ext cx="2350008" cy="365760"/>
          </a:xfrm>
          <a:prstGeom prst="rect">
            <a:avLst/>
          </a:prstGeom>
          <a:noFill/>
          <a:ln/>
        </p:spPr>
        <p:txBody>
          <a:bodyPr wrap="square" lIns="0" tIns="0" rIns="0" bIns="0" rtlCol="0" anchor="ctr">
            <a:normAutofit/>
          </a:bodyPr>
          <a:lstStyle/>
          <a:p>
            <a:pPr algn="l" indent="0" marL="0">
              <a:buNone/>
            </a:pPr>
            <a:r>
              <a:rPr lang="en-US" sz="2100" b="1" dirty="0">
                <a:solidFill>
                  <a:srgbClr val="14213D"/>
                </a:solidFill>
                <a:latin typeface="Aptos Display" pitchFamily="34" charset="0"/>
                <a:ea typeface="Aptos Display" pitchFamily="34" charset="-122"/>
                <a:cs typeface="Aptos Display" pitchFamily="34" charset="-120"/>
              </a:rPr>
              <a:t>43.77%</a:t>
            </a:r>
            <a:endParaRPr lang="en-US" sz="2100" dirty="0"/>
          </a:p>
        </p:txBody>
      </p:sp>
      <p:sp>
        <p:nvSpPr>
          <p:cNvPr id="42" name="Text 40"/>
          <p:cNvSpPr txBox="1"/>
          <p:nvPr/>
        </p:nvSpPr>
        <p:spPr>
          <a:xfrm>
            <a:off x="3557016" y="5504688"/>
            <a:ext cx="2350008" cy="329184"/>
          </a:xfrm>
          <a:prstGeom prst="rect">
            <a:avLst/>
          </a:prstGeom>
          <a:noFill/>
          <a:ln/>
        </p:spPr>
        <p:txBody>
          <a:bodyPr wrap="square" lIns="0" tIns="0" rIns="0" bIns="0" rtlCol="0" anchor="t">
            <a:normAutofit/>
          </a:bodyPr>
          <a:lstStyle/>
          <a:p>
            <a:pPr algn="l" indent="0" marL="0">
              <a:buNone/>
            </a:pPr>
            <a:r>
              <a:rPr lang="en-US" sz="820" dirty="0">
                <a:solidFill>
                  <a:srgbClr val="566074"/>
                </a:solidFill>
                <a:latin typeface="Aptos" pitchFamily="34" charset="0"/>
                <a:ea typeface="Aptos" pitchFamily="34" charset="-122"/>
                <a:cs typeface="Aptos" pitchFamily="34" charset="-120"/>
              </a:rPr>
              <a:t>57,382 engaged sessions</a:t>
            </a:r>
            <a:endParaRPr lang="en-US" sz="820" dirty="0"/>
          </a:p>
        </p:txBody>
      </p:sp>
      <p:sp>
        <p:nvSpPr>
          <p:cNvPr id="43" name="Shape 41"/>
          <p:cNvSpPr/>
          <p:nvPr/>
        </p:nvSpPr>
        <p:spPr>
          <a:xfrm>
            <a:off x="6163056" y="4736592"/>
            <a:ext cx="2642616" cy="1170432"/>
          </a:xfrm>
          <a:prstGeom prst="roundRect">
            <a:avLst>
              <a:gd name="adj" fmla="val 9375"/>
            </a:avLst>
          </a:prstGeom>
          <a:solidFill>
            <a:srgbClr val="FFFFFF"/>
          </a:solidFill>
          <a:ln w="10160">
            <a:solidFill>
              <a:srgbClr val="E1E5EE"/>
            </a:solidFill>
            <a:prstDash val="solid"/>
          </a:ln>
        </p:spPr>
      </p:sp>
      <p:sp>
        <p:nvSpPr>
          <p:cNvPr id="44" name="Shape 42"/>
          <p:cNvSpPr/>
          <p:nvPr/>
        </p:nvSpPr>
        <p:spPr>
          <a:xfrm>
            <a:off x="6163056" y="4846320"/>
            <a:ext cx="41148" cy="950976"/>
          </a:xfrm>
          <a:prstGeom prst="rect">
            <a:avLst/>
          </a:prstGeom>
          <a:solidFill>
            <a:srgbClr val="188038"/>
          </a:solidFill>
          <a:ln w="12700">
            <a:solidFill>
              <a:srgbClr val="188038"/>
            </a:solidFill>
            <a:prstDash val="solid"/>
          </a:ln>
        </p:spPr>
      </p:sp>
      <p:sp>
        <p:nvSpPr>
          <p:cNvPr id="45" name="Text 43"/>
          <p:cNvSpPr txBox="1"/>
          <p:nvPr/>
        </p:nvSpPr>
        <p:spPr>
          <a:xfrm>
            <a:off x="6327648" y="4855464"/>
            <a:ext cx="2350008" cy="228600"/>
          </a:xfrm>
          <a:prstGeom prst="rect">
            <a:avLst/>
          </a:prstGeom>
          <a:noFill/>
          <a:ln/>
        </p:spPr>
        <p:txBody>
          <a:bodyPr wrap="square" lIns="0" tIns="0" rIns="0" bIns="0" rtlCol="0" anchor="ctr">
            <a:normAutofit/>
          </a:bodyPr>
          <a:lstStyle/>
          <a:p>
            <a:pPr algn="l" indent="0" marL="0">
              <a:buNone/>
            </a:pPr>
            <a:r>
              <a:rPr lang="en-US" sz="930" b="1" dirty="0">
                <a:solidFill>
                  <a:srgbClr val="566074"/>
                </a:solidFill>
                <a:latin typeface="Aptos" pitchFamily="34" charset="0"/>
                <a:ea typeface="Aptos" pitchFamily="34" charset="-122"/>
                <a:cs typeface="Aptos" pitchFamily="34" charset="-120"/>
              </a:rPr>
              <a:t>TOTAL REVENUE</a:t>
            </a:r>
            <a:endParaRPr lang="en-US" sz="930" dirty="0"/>
          </a:p>
        </p:txBody>
      </p:sp>
      <p:sp>
        <p:nvSpPr>
          <p:cNvPr id="46" name="Text 44"/>
          <p:cNvSpPr txBox="1"/>
          <p:nvPr/>
        </p:nvSpPr>
        <p:spPr>
          <a:xfrm>
            <a:off x="6327648" y="5120640"/>
            <a:ext cx="2350008" cy="365760"/>
          </a:xfrm>
          <a:prstGeom prst="rect">
            <a:avLst/>
          </a:prstGeom>
          <a:noFill/>
          <a:ln/>
        </p:spPr>
        <p:txBody>
          <a:bodyPr wrap="square" lIns="0" tIns="0" rIns="0" bIns="0" rtlCol="0" anchor="ctr">
            <a:normAutofit/>
          </a:bodyPr>
          <a:lstStyle/>
          <a:p>
            <a:pPr algn="l" indent="0" marL="0">
              <a:buNone/>
            </a:pPr>
            <a:r>
              <a:rPr lang="en-US" sz="2100" b="1" dirty="0">
                <a:solidFill>
                  <a:srgbClr val="14213D"/>
                </a:solidFill>
                <a:latin typeface="Aptos Display" pitchFamily="34" charset="0"/>
                <a:ea typeface="Aptos Display" pitchFamily="34" charset="-122"/>
                <a:cs typeface="Aptos Display" pitchFamily="34" charset="-120"/>
              </a:rPr>
              <a:t>$364.4K</a:t>
            </a:r>
            <a:endParaRPr lang="en-US" sz="2100" dirty="0"/>
          </a:p>
        </p:txBody>
      </p:sp>
      <p:sp>
        <p:nvSpPr>
          <p:cNvPr id="47" name="Text 45"/>
          <p:cNvSpPr txBox="1"/>
          <p:nvPr/>
        </p:nvSpPr>
        <p:spPr>
          <a:xfrm>
            <a:off x="6327648" y="5504688"/>
            <a:ext cx="2350008" cy="329184"/>
          </a:xfrm>
          <a:prstGeom prst="rect">
            <a:avLst/>
          </a:prstGeom>
          <a:noFill/>
          <a:ln/>
        </p:spPr>
        <p:txBody>
          <a:bodyPr wrap="square" lIns="0" tIns="0" rIns="0" bIns="0" rtlCol="0" anchor="t">
            <a:normAutofit/>
          </a:bodyPr>
          <a:lstStyle/>
          <a:p>
            <a:pPr algn="l" indent="0" marL="0">
              <a:buNone/>
            </a:pPr>
            <a:r>
              <a:rPr lang="en-US" sz="820" dirty="0">
                <a:solidFill>
                  <a:srgbClr val="566074"/>
                </a:solidFill>
                <a:latin typeface="Aptos" pitchFamily="34" charset="0"/>
                <a:ea typeface="Aptos" pitchFamily="34" charset="-122"/>
                <a:cs typeface="Aptos" pitchFamily="34" charset="-120"/>
              </a:rPr>
              <a:t>Traffic acquisition metric</a:t>
            </a:r>
            <a:endParaRPr lang="en-US" sz="820" dirty="0"/>
          </a:p>
        </p:txBody>
      </p:sp>
      <p:sp>
        <p:nvSpPr>
          <p:cNvPr id="48" name="Shape 46"/>
          <p:cNvSpPr/>
          <p:nvPr/>
        </p:nvSpPr>
        <p:spPr>
          <a:xfrm>
            <a:off x="8933688" y="4736592"/>
            <a:ext cx="2642616" cy="1170432"/>
          </a:xfrm>
          <a:prstGeom prst="roundRect">
            <a:avLst>
              <a:gd name="adj" fmla="val 9375"/>
            </a:avLst>
          </a:prstGeom>
          <a:solidFill>
            <a:srgbClr val="FFFFFF"/>
          </a:solidFill>
          <a:ln w="10160">
            <a:solidFill>
              <a:srgbClr val="E1E5EE"/>
            </a:solidFill>
            <a:prstDash val="solid"/>
          </a:ln>
        </p:spPr>
      </p:sp>
      <p:sp>
        <p:nvSpPr>
          <p:cNvPr id="49" name="Shape 47"/>
          <p:cNvSpPr/>
          <p:nvPr/>
        </p:nvSpPr>
        <p:spPr>
          <a:xfrm>
            <a:off x="8933688" y="4846320"/>
            <a:ext cx="41148" cy="950976"/>
          </a:xfrm>
          <a:prstGeom prst="rect">
            <a:avLst/>
          </a:prstGeom>
          <a:solidFill>
            <a:srgbClr val="A85D00"/>
          </a:solidFill>
          <a:ln w="12700">
            <a:solidFill>
              <a:srgbClr val="A85D00"/>
            </a:solidFill>
            <a:prstDash val="solid"/>
          </a:ln>
        </p:spPr>
      </p:sp>
      <p:sp>
        <p:nvSpPr>
          <p:cNvPr id="50" name="Text 48"/>
          <p:cNvSpPr txBox="1"/>
          <p:nvPr/>
        </p:nvSpPr>
        <p:spPr>
          <a:xfrm>
            <a:off x="9098280" y="4855464"/>
            <a:ext cx="2350008" cy="228600"/>
          </a:xfrm>
          <a:prstGeom prst="rect">
            <a:avLst/>
          </a:prstGeom>
          <a:noFill/>
          <a:ln/>
        </p:spPr>
        <p:txBody>
          <a:bodyPr wrap="square" lIns="0" tIns="0" rIns="0" bIns="0" rtlCol="0" anchor="ctr">
            <a:normAutofit/>
          </a:bodyPr>
          <a:lstStyle/>
          <a:p>
            <a:pPr algn="l" indent="0" marL="0">
              <a:buNone/>
            </a:pPr>
            <a:r>
              <a:rPr lang="en-US" sz="930" b="1" dirty="0">
                <a:solidFill>
                  <a:srgbClr val="566074"/>
                </a:solidFill>
                <a:latin typeface="Aptos" pitchFamily="34" charset="0"/>
                <a:ea typeface="Aptos" pitchFamily="34" charset="-122"/>
                <a:cs typeface="Aptos" pitchFamily="34" charset="-120"/>
              </a:rPr>
              <a:t>FUNNEL PURCHASERS</a:t>
            </a:r>
            <a:endParaRPr lang="en-US" sz="930" dirty="0"/>
          </a:p>
        </p:txBody>
      </p:sp>
      <p:sp>
        <p:nvSpPr>
          <p:cNvPr id="51" name="Text 49"/>
          <p:cNvSpPr txBox="1"/>
          <p:nvPr/>
        </p:nvSpPr>
        <p:spPr>
          <a:xfrm>
            <a:off x="9098280" y="5120640"/>
            <a:ext cx="2350008" cy="365760"/>
          </a:xfrm>
          <a:prstGeom prst="rect">
            <a:avLst/>
          </a:prstGeom>
          <a:noFill/>
          <a:ln/>
        </p:spPr>
        <p:txBody>
          <a:bodyPr wrap="square" lIns="0" tIns="0" rIns="0" bIns="0" rtlCol="0" anchor="ctr">
            <a:normAutofit/>
          </a:bodyPr>
          <a:lstStyle/>
          <a:p>
            <a:pPr algn="l" indent="0" marL="0">
              <a:buNone/>
            </a:pPr>
            <a:r>
              <a:rPr lang="en-US" sz="2100" b="1" dirty="0">
                <a:solidFill>
                  <a:srgbClr val="14213D"/>
                </a:solidFill>
                <a:latin typeface="Aptos Display" pitchFamily="34" charset="0"/>
                <a:ea typeface="Aptos Display" pitchFamily="34" charset="-122"/>
                <a:cs typeface="Aptos Display" pitchFamily="34" charset="-120"/>
              </a:rPr>
              <a:t>1,902</a:t>
            </a:r>
            <a:endParaRPr lang="en-US" sz="2100" dirty="0"/>
          </a:p>
        </p:txBody>
      </p:sp>
      <p:sp>
        <p:nvSpPr>
          <p:cNvPr id="52" name="Text 50"/>
          <p:cNvSpPr txBox="1"/>
          <p:nvPr/>
        </p:nvSpPr>
        <p:spPr>
          <a:xfrm>
            <a:off x="9098280" y="5504688"/>
            <a:ext cx="2350008" cy="329184"/>
          </a:xfrm>
          <a:prstGeom prst="rect">
            <a:avLst/>
          </a:prstGeom>
          <a:noFill/>
          <a:ln/>
        </p:spPr>
        <p:txBody>
          <a:bodyPr wrap="square" lIns="0" tIns="0" rIns="0" bIns="0" rtlCol="0" anchor="t">
            <a:normAutofit/>
          </a:bodyPr>
          <a:lstStyle/>
          <a:p>
            <a:pPr algn="l" indent="0" marL="0">
              <a:buNone/>
            </a:pPr>
            <a:r>
              <a:rPr lang="en-US" sz="820" dirty="0">
                <a:solidFill>
                  <a:srgbClr val="566074"/>
                </a:solidFill>
                <a:latin typeface="Aptos" pitchFamily="34" charset="0"/>
                <a:ea typeface="Aptos" pitchFamily="34" charset="-122"/>
                <a:cs typeface="Aptos" pitchFamily="34" charset="-120"/>
              </a:rPr>
              <a:t>Users in configured funnel</a:t>
            </a:r>
            <a:endParaRPr lang="en-US" sz="820" dirty="0"/>
          </a:p>
        </p:txBody>
      </p:sp>
      <p:sp>
        <p:nvSpPr>
          <p:cNvPr id="53" name="Text 51"/>
          <p:cNvSpPr txBox="1"/>
          <p:nvPr/>
        </p:nvSpPr>
        <p:spPr>
          <a:xfrm>
            <a:off x="566928" y="6245352"/>
            <a:ext cx="10744200" cy="146304"/>
          </a:xfrm>
          <a:prstGeom prst="rect">
            <a:avLst/>
          </a:prstGeom>
          <a:noFill/>
          <a:ln/>
        </p:spPr>
        <p:txBody>
          <a:bodyPr wrap="square" lIns="0" tIns="0" rIns="0" bIns="0" rtlCol="0" anchor="ctr">
            <a:normAutofit/>
          </a:bodyPr>
          <a:lstStyle/>
          <a:p>
            <a:pPr algn="l" indent="0" marL="0">
              <a:buNone/>
            </a:pPr>
            <a:r>
              <a:rPr lang="en-US" sz="720" dirty="0">
                <a:solidFill>
                  <a:srgbClr val="566074"/>
                </a:solidFill>
                <a:latin typeface="Aptos" pitchFamily="34" charset="0"/>
                <a:ea typeface="Aptos" pitchFamily="34" charset="-122"/>
                <a:cs typeface="Aptos" pitchFamily="34" charset="-120"/>
              </a:rPr>
              <a:t>Source: supplied GA4 demo screenshots, 24 Sep–21 Oct 2026. Store: merch.google. This is an unofficial student proposal.</a:t>
            </a:r>
            <a:endParaRPr lang="en-US" sz="72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10896"/>
            <a:ext cx="5029200" cy="164592"/>
          </a:xfrm>
          <a:prstGeom prst="rect">
            <a:avLst/>
          </a:prstGeom>
          <a:noFill/>
          <a:ln/>
        </p:spPr>
        <p:txBody>
          <a:bodyPr wrap="square" lIns="0" tIns="0" rIns="0" bIns="0" rtlCol="0" anchor="ctr">
            <a:normAutofit/>
          </a:bodyPr>
          <a:lstStyle/>
          <a:p>
            <a:pPr algn="l" indent="0" marL="0">
              <a:buNone/>
            </a:pPr>
            <a:r>
              <a:rPr lang="en-US" sz="820" b="1" spc="50" kern="0" dirty="0">
                <a:solidFill>
                  <a:srgbClr val="1A73E8"/>
                </a:solidFill>
                <a:latin typeface="Aptos" pitchFamily="34" charset="0"/>
                <a:ea typeface="Aptos" pitchFamily="34" charset="-122"/>
                <a:cs typeface="Aptos" pitchFamily="34" charset="-120"/>
              </a:rPr>
              <a:t>01 / FUNNEL ANALYSIS</a:t>
            </a:r>
            <a:endParaRPr lang="en-US" sz="820" dirty="0"/>
          </a:p>
        </p:txBody>
      </p:sp>
      <p:sp>
        <p:nvSpPr>
          <p:cNvPr id="3" name="Text 1"/>
          <p:cNvSpPr txBox="1"/>
          <p:nvPr/>
        </p:nvSpPr>
        <p:spPr>
          <a:xfrm>
            <a:off x="566928" y="557784"/>
            <a:ext cx="10972800" cy="411480"/>
          </a:xfrm>
          <a:prstGeom prst="rect">
            <a:avLst/>
          </a:prstGeom>
          <a:noFill/>
          <a:ln/>
        </p:spPr>
        <p:txBody>
          <a:bodyPr wrap="square" lIns="0" tIns="0" rIns="0" bIns="0" rtlCol="0" anchor="ctr">
            <a:normAutofit/>
          </a:bodyPr>
          <a:lstStyle/>
          <a:p>
            <a:pPr algn="l" indent="0" marL="0">
              <a:buNone/>
            </a:pPr>
            <a:r>
              <a:rPr lang="en-US" sz="2400" b="1" dirty="0">
                <a:solidFill>
                  <a:srgbClr val="14213D"/>
                </a:solidFill>
                <a:latin typeface="Aptos Display" pitchFamily="34" charset="0"/>
                <a:ea typeface="Aptos Display" pitchFamily="34" charset="-122"/>
                <a:cs typeface="Aptos Display" pitchFamily="34" charset="-120"/>
              </a:rPr>
              <a:t>The largest leak is before product viewing</a:t>
            </a:r>
            <a:endParaRPr lang="en-US" sz="2400" dirty="0"/>
          </a:p>
        </p:txBody>
      </p:sp>
      <p:sp>
        <p:nvSpPr>
          <p:cNvPr id="4" name="Text 2"/>
          <p:cNvSpPr txBox="1"/>
          <p:nvPr/>
        </p:nvSpPr>
        <p:spPr>
          <a:xfrm>
            <a:off x="585216" y="1005840"/>
            <a:ext cx="10972800" cy="274320"/>
          </a:xfrm>
          <a:prstGeom prst="rect">
            <a:avLst/>
          </a:prstGeom>
          <a:noFill/>
          <a:ln/>
        </p:spPr>
        <p:txBody>
          <a:bodyPr wrap="square" lIns="0" tIns="0" rIns="0" bIns="0" rtlCol="0" anchor="ctr">
            <a:normAutofit/>
          </a:bodyPr>
          <a:lstStyle/>
          <a:p>
            <a:pPr algn="l" indent="0" marL="0">
              <a:buNone/>
            </a:pPr>
            <a:r>
              <a:rPr lang="en-US" sz="1050" dirty="0">
                <a:solidFill>
                  <a:srgbClr val="566074"/>
                </a:solidFill>
                <a:latin typeface="Aptos" pitchFamily="34" charset="0"/>
                <a:ea typeface="Aptos" pitchFamily="34" charset="-122"/>
                <a:cs typeface="Aptos" pitchFamily="34" charset="-120"/>
              </a:rPr>
              <a:t>Configured GA4 purchase journey • user counts • 24 Sep–21 Oct 2026</a:t>
            </a:r>
            <a:endParaRPr lang="en-US" sz="1050" dirty="0"/>
          </a:p>
        </p:txBody>
      </p:sp>
      <p:sp>
        <p:nvSpPr>
          <p:cNvPr id="5" name="Shape 3"/>
          <p:cNvSpPr/>
          <p:nvPr/>
        </p:nvSpPr>
        <p:spPr>
          <a:xfrm>
            <a:off x="512064" y="1417320"/>
            <a:ext cx="7004304" cy="4553712"/>
          </a:xfrm>
          <a:prstGeom prst="roundRect">
            <a:avLst>
              <a:gd name="adj" fmla="val 2410"/>
            </a:avLst>
          </a:prstGeom>
          <a:solidFill>
            <a:srgbClr val="FFFFFF"/>
          </a:solidFill>
          <a:ln w="10160">
            <a:solidFill>
              <a:srgbClr val="E1E5EE"/>
            </a:solidFill>
            <a:prstDash val="solid"/>
          </a:ln>
        </p:spPr>
      </p:sp>
      <p:sp>
        <p:nvSpPr>
          <p:cNvPr id="6" name="Text 4"/>
          <p:cNvSpPr txBox="1"/>
          <p:nvPr/>
        </p:nvSpPr>
        <p:spPr>
          <a:xfrm>
            <a:off x="676656" y="1545336"/>
            <a:ext cx="6675120" cy="228600"/>
          </a:xfrm>
          <a:prstGeom prst="rect">
            <a:avLst/>
          </a:prstGeom>
          <a:noFill/>
          <a:ln/>
        </p:spPr>
        <p:txBody>
          <a:bodyPr wrap="square" lIns="0" tIns="0" rIns="0" bIns="0" rtlCol="0" anchor="ctr">
            <a:normAutofit/>
          </a:bodyPr>
          <a:lstStyle/>
          <a:p>
            <a:pPr algn="l" indent="0" marL="0">
              <a:buNone/>
            </a:pPr>
            <a:r>
              <a:rPr lang="en-US" sz="1250" b="1" dirty="0">
                <a:solidFill>
                  <a:srgbClr val="14213D"/>
                </a:solidFill>
                <a:latin typeface="Aptos" pitchFamily="34" charset="0"/>
                <a:ea typeface="Aptos" pitchFamily="34" charset="-122"/>
                <a:cs typeface="Aptos" pitchFamily="34" charset="-120"/>
              </a:rPr>
              <a:t>Five-stage journey</a:t>
            </a:r>
            <a:endParaRPr lang="en-US" sz="1250" dirty="0"/>
          </a:p>
        </p:txBody>
      </p:sp>
      <p:sp>
        <p:nvSpPr>
          <p:cNvPr id="7" name="Text 5"/>
          <p:cNvSpPr txBox="1"/>
          <p:nvPr/>
        </p:nvSpPr>
        <p:spPr>
          <a:xfrm>
            <a:off x="676656" y="1801368"/>
            <a:ext cx="6675120" cy="228600"/>
          </a:xfrm>
          <a:prstGeom prst="rect">
            <a:avLst/>
          </a:prstGeom>
          <a:noFill/>
          <a:ln/>
        </p:spPr>
        <p:txBody>
          <a:bodyPr wrap="square" lIns="0" tIns="0" rIns="0" bIns="0" rtlCol="0" anchor="ctr">
            <a:normAutofit/>
          </a:bodyPr>
          <a:lstStyle/>
          <a:p>
            <a:pPr algn="l" indent="0" marL="0">
              <a:buNone/>
            </a:pPr>
            <a:r>
              <a:rPr lang="en-US" sz="850" dirty="0">
                <a:solidFill>
                  <a:srgbClr val="566074"/>
                </a:solidFill>
                <a:latin typeface="Aptos" pitchFamily="34" charset="0"/>
                <a:ea typeface="Aptos" pitchFamily="34" charset="-122"/>
                <a:cs typeface="Aptos" pitchFamily="34" charset="-120"/>
              </a:rPr>
              <a:t>Bars are scaled to session-start users</a:t>
            </a:r>
            <a:endParaRPr lang="en-US" sz="850" dirty="0"/>
          </a:p>
        </p:txBody>
      </p:sp>
      <p:sp>
        <p:nvSpPr>
          <p:cNvPr id="8" name="Text 6"/>
          <p:cNvSpPr txBox="1"/>
          <p:nvPr/>
        </p:nvSpPr>
        <p:spPr>
          <a:xfrm>
            <a:off x="731520" y="2011680"/>
            <a:ext cx="1051560" cy="164592"/>
          </a:xfrm>
          <a:prstGeom prst="rect">
            <a:avLst/>
          </a:prstGeom>
          <a:noFill/>
          <a:ln/>
        </p:spPr>
        <p:txBody>
          <a:bodyPr wrap="square" lIns="0" tIns="0" rIns="0" bIns="0" rtlCol="0" anchor="ctr">
            <a:normAutofit/>
          </a:bodyPr>
          <a:lstStyle/>
          <a:p>
            <a:pPr algn="l" indent="0" marL="0">
              <a:buNone/>
            </a:pPr>
            <a:r>
              <a:rPr lang="en-US" sz="780" b="1" dirty="0">
                <a:solidFill>
                  <a:srgbClr val="8A94A6"/>
                </a:solidFill>
                <a:latin typeface="Aptos" pitchFamily="34" charset="0"/>
                <a:ea typeface="Aptos" pitchFamily="34" charset="-122"/>
                <a:cs typeface="Aptos" pitchFamily="34" charset="-120"/>
              </a:rPr>
              <a:t>STAGE</a:t>
            </a:r>
            <a:endParaRPr lang="en-US" sz="780" dirty="0"/>
          </a:p>
        </p:txBody>
      </p:sp>
      <p:sp>
        <p:nvSpPr>
          <p:cNvPr id="9" name="Text 7"/>
          <p:cNvSpPr txBox="1"/>
          <p:nvPr/>
        </p:nvSpPr>
        <p:spPr>
          <a:xfrm>
            <a:off x="5276088" y="2011680"/>
            <a:ext cx="658368" cy="164592"/>
          </a:xfrm>
          <a:prstGeom prst="rect">
            <a:avLst/>
          </a:prstGeom>
          <a:noFill/>
          <a:ln/>
        </p:spPr>
        <p:txBody>
          <a:bodyPr wrap="square" lIns="0" tIns="0" rIns="0" bIns="0" rtlCol="0" anchor="ctr">
            <a:normAutofit/>
          </a:bodyPr>
          <a:lstStyle/>
          <a:p>
            <a:pPr algn="r" indent="0" marL="0">
              <a:buNone/>
            </a:pPr>
            <a:r>
              <a:rPr lang="en-US" sz="780" b="1" dirty="0">
                <a:solidFill>
                  <a:srgbClr val="8A94A6"/>
                </a:solidFill>
                <a:latin typeface="Aptos" pitchFamily="34" charset="0"/>
                <a:ea typeface="Aptos" pitchFamily="34" charset="-122"/>
                <a:cs typeface="Aptos" pitchFamily="34" charset="-120"/>
              </a:rPr>
              <a:t>USERS</a:t>
            </a:r>
            <a:endParaRPr lang="en-US" sz="780" dirty="0"/>
          </a:p>
        </p:txBody>
      </p:sp>
      <p:sp>
        <p:nvSpPr>
          <p:cNvPr id="10" name="Text 8"/>
          <p:cNvSpPr txBox="1"/>
          <p:nvPr/>
        </p:nvSpPr>
        <p:spPr>
          <a:xfrm>
            <a:off x="5989320" y="2011680"/>
            <a:ext cx="1170432" cy="164592"/>
          </a:xfrm>
          <a:prstGeom prst="rect">
            <a:avLst/>
          </a:prstGeom>
          <a:noFill/>
          <a:ln/>
        </p:spPr>
        <p:txBody>
          <a:bodyPr wrap="square" lIns="0" tIns="0" rIns="0" bIns="0" rtlCol="0" anchor="ctr">
            <a:normAutofit/>
          </a:bodyPr>
          <a:lstStyle/>
          <a:p>
            <a:pPr algn="r" indent="0" marL="0">
              <a:buNone/>
            </a:pPr>
            <a:r>
              <a:rPr lang="en-US" sz="780" b="1" dirty="0">
                <a:solidFill>
                  <a:srgbClr val="8A94A6"/>
                </a:solidFill>
                <a:latin typeface="Aptos" pitchFamily="34" charset="0"/>
                <a:ea typeface="Aptos" pitchFamily="34" charset="-122"/>
                <a:cs typeface="Aptos" pitchFamily="34" charset="-120"/>
              </a:rPr>
              <a:t>FROM PRIOR</a:t>
            </a:r>
            <a:endParaRPr lang="en-US" sz="780" dirty="0"/>
          </a:p>
        </p:txBody>
      </p:sp>
      <p:sp>
        <p:nvSpPr>
          <p:cNvPr id="11" name="Text 9"/>
          <p:cNvSpPr txBox="1"/>
          <p:nvPr/>
        </p:nvSpPr>
        <p:spPr>
          <a:xfrm>
            <a:off x="731520" y="2313432"/>
            <a:ext cx="1133856" cy="237744"/>
          </a:xfrm>
          <a:prstGeom prst="rect">
            <a:avLst/>
          </a:prstGeom>
          <a:noFill/>
          <a:ln/>
        </p:spPr>
        <p:txBody>
          <a:bodyPr wrap="square" lIns="0" tIns="0" rIns="0" bIns="0" rtlCol="0" anchor="ctr">
            <a:normAutofit/>
          </a:bodyPr>
          <a:lstStyle/>
          <a:p>
            <a:pPr algn="l" indent="0" marL="0">
              <a:buNone/>
            </a:pPr>
            <a:r>
              <a:rPr lang="en-US" sz="1000" b="1" dirty="0">
                <a:solidFill>
                  <a:srgbClr val="1B2433"/>
                </a:solidFill>
                <a:latin typeface="Aptos" pitchFamily="34" charset="0"/>
                <a:ea typeface="Aptos" pitchFamily="34" charset="-122"/>
                <a:cs typeface="Aptos" pitchFamily="34" charset="-120"/>
              </a:rPr>
              <a:t>Session start</a:t>
            </a:r>
            <a:endParaRPr lang="en-US" sz="1000" dirty="0"/>
          </a:p>
        </p:txBody>
      </p:sp>
      <p:sp>
        <p:nvSpPr>
          <p:cNvPr id="12" name="Shape 10"/>
          <p:cNvSpPr/>
          <p:nvPr/>
        </p:nvSpPr>
        <p:spPr>
          <a:xfrm>
            <a:off x="1901952" y="2354580"/>
            <a:ext cx="3172968" cy="173736"/>
          </a:xfrm>
          <a:prstGeom prst="roundRect">
            <a:avLst>
              <a:gd name="adj" fmla="val 26316"/>
            </a:avLst>
          </a:prstGeom>
          <a:solidFill>
            <a:srgbClr val="DCE8FB"/>
          </a:solidFill>
          <a:ln w="10160">
            <a:solidFill>
              <a:srgbClr val="DCE8FB"/>
            </a:solidFill>
            <a:prstDash val="solid"/>
          </a:ln>
        </p:spPr>
      </p:sp>
      <p:sp>
        <p:nvSpPr>
          <p:cNvPr id="13" name="Shape 11"/>
          <p:cNvSpPr/>
          <p:nvPr/>
        </p:nvSpPr>
        <p:spPr>
          <a:xfrm>
            <a:off x="1901952" y="2354580"/>
            <a:ext cx="3172968" cy="173736"/>
          </a:xfrm>
          <a:prstGeom prst="roundRect">
            <a:avLst>
              <a:gd name="adj" fmla="val 26316"/>
            </a:avLst>
          </a:prstGeom>
          <a:solidFill>
            <a:srgbClr val="14213D"/>
          </a:solidFill>
          <a:ln w="12700">
            <a:solidFill>
              <a:srgbClr val="14213D"/>
            </a:solidFill>
            <a:prstDash val="solid"/>
          </a:ln>
        </p:spPr>
      </p:sp>
      <p:sp>
        <p:nvSpPr>
          <p:cNvPr id="14" name="Text 12"/>
          <p:cNvSpPr txBox="1"/>
          <p:nvPr/>
        </p:nvSpPr>
        <p:spPr>
          <a:xfrm>
            <a:off x="5212080" y="2313432"/>
            <a:ext cx="749808" cy="237744"/>
          </a:xfrm>
          <a:prstGeom prst="rect">
            <a:avLst/>
          </a:prstGeom>
          <a:noFill/>
          <a:ln/>
        </p:spPr>
        <p:txBody>
          <a:bodyPr wrap="square" lIns="0" tIns="0" rIns="0" bIns="0" rtlCol="0" anchor="ctr">
            <a:normAutofit/>
          </a:bodyPr>
          <a:lstStyle/>
          <a:p>
            <a:pPr algn="r" indent="0" marL="0">
              <a:buNone/>
            </a:pPr>
            <a:r>
              <a:rPr lang="en-US" sz="1000" b="1" dirty="0">
                <a:solidFill>
                  <a:srgbClr val="14213D"/>
                </a:solidFill>
                <a:latin typeface="Aptos" pitchFamily="34" charset="0"/>
                <a:ea typeface="Aptos" pitchFamily="34" charset="-122"/>
                <a:cs typeface="Aptos" pitchFamily="34" charset="-120"/>
              </a:rPr>
              <a:t>90,809</a:t>
            </a:r>
            <a:endParaRPr lang="en-US" sz="1000" dirty="0"/>
          </a:p>
        </p:txBody>
      </p:sp>
      <p:sp>
        <p:nvSpPr>
          <p:cNvPr id="15" name="Text 13"/>
          <p:cNvSpPr txBox="1"/>
          <p:nvPr/>
        </p:nvSpPr>
        <p:spPr>
          <a:xfrm>
            <a:off x="6016752" y="2313432"/>
            <a:ext cx="1005840" cy="237744"/>
          </a:xfrm>
          <a:prstGeom prst="rect">
            <a:avLst/>
          </a:prstGeom>
          <a:noFill/>
          <a:ln/>
        </p:spPr>
        <p:txBody>
          <a:bodyPr wrap="square" lIns="0" tIns="0" rIns="0" bIns="0" rtlCol="0" anchor="ctr">
            <a:normAutofit/>
          </a:bodyPr>
          <a:lstStyle/>
          <a:p>
            <a:pPr algn="r" indent="0" marL="0">
              <a:buNone/>
            </a:pPr>
            <a:r>
              <a:rPr lang="en-US" sz="900" b="1" dirty="0">
                <a:solidFill>
                  <a:srgbClr val="566074"/>
                </a:solidFill>
                <a:latin typeface="Aptos" pitchFamily="34" charset="0"/>
                <a:ea typeface="Aptos" pitchFamily="34" charset="-122"/>
                <a:cs typeface="Aptos" pitchFamily="34" charset="-120"/>
              </a:rPr>
              <a:t>BASE</a:t>
            </a:r>
            <a:endParaRPr lang="en-US" sz="900" dirty="0"/>
          </a:p>
        </p:txBody>
      </p:sp>
      <p:sp>
        <p:nvSpPr>
          <p:cNvPr id="16" name="Text 14"/>
          <p:cNvSpPr txBox="1"/>
          <p:nvPr/>
        </p:nvSpPr>
        <p:spPr>
          <a:xfrm>
            <a:off x="731520" y="2953512"/>
            <a:ext cx="1133856" cy="237744"/>
          </a:xfrm>
          <a:prstGeom prst="rect">
            <a:avLst/>
          </a:prstGeom>
          <a:noFill/>
          <a:ln/>
        </p:spPr>
        <p:txBody>
          <a:bodyPr wrap="square" lIns="0" tIns="0" rIns="0" bIns="0" rtlCol="0" anchor="ctr">
            <a:normAutofit/>
          </a:bodyPr>
          <a:lstStyle/>
          <a:p>
            <a:pPr algn="l" indent="0" marL="0">
              <a:buNone/>
            </a:pPr>
            <a:r>
              <a:rPr lang="en-US" sz="1000" dirty="0">
                <a:solidFill>
                  <a:srgbClr val="1B2433"/>
                </a:solidFill>
                <a:latin typeface="Aptos" pitchFamily="34" charset="0"/>
                <a:ea typeface="Aptos" pitchFamily="34" charset="-122"/>
                <a:cs typeface="Aptos" pitchFamily="34" charset="-120"/>
              </a:rPr>
              <a:t>View product</a:t>
            </a:r>
            <a:endParaRPr lang="en-US" sz="1000" dirty="0"/>
          </a:p>
        </p:txBody>
      </p:sp>
      <p:sp>
        <p:nvSpPr>
          <p:cNvPr id="17" name="Shape 15"/>
          <p:cNvSpPr/>
          <p:nvPr/>
        </p:nvSpPr>
        <p:spPr>
          <a:xfrm>
            <a:off x="1901952" y="2994660"/>
            <a:ext cx="3172968" cy="173736"/>
          </a:xfrm>
          <a:prstGeom prst="roundRect">
            <a:avLst>
              <a:gd name="adj" fmla="val 26316"/>
            </a:avLst>
          </a:prstGeom>
          <a:solidFill>
            <a:srgbClr val="DCE8FB"/>
          </a:solidFill>
          <a:ln w="10160">
            <a:solidFill>
              <a:srgbClr val="DCE8FB"/>
            </a:solidFill>
            <a:prstDash val="solid"/>
          </a:ln>
        </p:spPr>
      </p:sp>
      <p:sp>
        <p:nvSpPr>
          <p:cNvPr id="18" name="Shape 16"/>
          <p:cNvSpPr/>
          <p:nvPr/>
        </p:nvSpPr>
        <p:spPr>
          <a:xfrm>
            <a:off x="1901952" y="2994660"/>
            <a:ext cx="757174" cy="173736"/>
          </a:xfrm>
          <a:prstGeom prst="roundRect">
            <a:avLst>
              <a:gd name="adj" fmla="val 26316"/>
            </a:avLst>
          </a:prstGeom>
          <a:solidFill>
            <a:srgbClr val="1A73E8"/>
          </a:solidFill>
          <a:ln w="12700">
            <a:solidFill>
              <a:srgbClr val="1A73E8"/>
            </a:solidFill>
            <a:prstDash val="solid"/>
          </a:ln>
        </p:spPr>
      </p:sp>
      <p:sp>
        <p:nvSpPr>
          <p:cNvPr id="19" name="Text 17"/>
          <p:cNvSpPr txBox="1"/>
          <p:nvPr/>
        </p:nvSpPr>
        <p:spPr>
          <a:xfrm>
            <a:off x="5212080" y="2953512"/>
            <a:ext cx="749808" cy="237744"/>
          </a:xfrm>
          <a:prstGeom prst="rect">
            <a:avLst/>
          </a:prstGeom>
          <a:noFill/>
          <a:ln/>
        </p:spPr>
        <p:txBody>
          <a:bodyPr wrap="square" lIns="0" tIns="0" rIns="0" bIns="0" rtlCol="0" anchor="ctr">
            <a:normAutofit/>
          </a:bodyPr>
          <a:lstStyle/>
          <a:p>
            <a:pPr algn="r" indent="0" marL="0">
              <a:buNone/>
            </a:pPr>
            <a:r>
              <a:rPr lang="en-US" sz="1000" b="1" dirty="0">
                <a:solidFill>
                  <a:srgbClr val="14213D"/>
                </a:solidFill>
                <a:latin typeface="Aptos" pitchFamily="34" charset="0"/>
                <a:ea typeface="Aptos" pitchFamily="34" charset="-122"/>
                <a:cs typeface="Aptos" pitchFamily="34" charset="-120"/>
              </a:rPr>
              <a:t>21,670</a:t>
            </a:r>
            <a:endParaRPr lang="en-US" sz="1000" dirty="0"/>
          </a:p>
        </p:txBody>
      </p:sp>
      <p:sp>
        <p:nvSpPr>
          <p:cNvPr id="20" name="Text 18"/>
          <p:cNvSpPr txBox="1"/>
          <p:nvPr/>
        </p:nvSpPr>
        <p:spPr>
          <a:xfrm>
            <a:off x="6016752" y="2953512"/>
            <a:ext cx="1005840" cy="237744"/>
          </a:xfrm>
          <a:prstGeom prst="rect">
            <a:avLst/>
          </a:prstGeom>
          <a:noFill/>
          <a:ln/>
        </p:spPr>
        <p:txBody>
          <a:bodyPr wrap="square" lIns="0" tIns="0" rIns="0" bIns="0" rtlCol="0" anchor="ctr">
            <a:normAutofit/>
          </a:bodyPr>
          <a:lstStyle/>
          <a:p>
            <a:pPr algn="r" indent="0" marL="0">
              <a:buNone/>
            </a:pPr>
            <a:r>
              <a:rPr lang="en-US" sz="900" b="1" dirty="0">
                <a:solidFill>
                  <a:srgbClr val="1A73E8"/>
                </a:solidFill>
                <a:latin typeface="Aptos" pitchFamily="34" charset="0"/>
                <a:ea typeface="Aptos" pitchFamily="34" charset="-122"/>
                <a:cs typeface="Aptos" pitchFamily="34" charset="-120"/>
              </a:rPr>
              <a:t>23.86%</a:t>
            </a:r>
            <a:endParaRPr lang="en-US" sz="900" dirty="0"/>
          </a:p>
        </p:txBody>
      </p:sp>
      <p:sp>
        <p:nvSpPr>
          <p:cNvPr id="21" name="Text 19"/>
          <p:cNvSpPr txBox="1"/>
          <p:nvPr/>
        </p:nvSpPr>
        <p:spPr>
          <a:xfrm>
            <a:off x="1920240" y="3182112"/>
            <a:ext cx="3291840" cy="164592"/>
          </a:xfrm>
          <a:prstGeom prst="rect">
            <a:avLst/>
          </a:prstGeom>
          <a:noFill/>
          <a:ln/>
        </p:spPr>
        <p:txBody>
          <a:bodyPr wrap="square" lIns="0" tIns="0" rIns="0" bIns="0" rtlCol="0" anchor="ctr">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69,139 lost · 76.1%</a:t>
            </a:r>
            <a:endParaRPr lang="en-US" sz="790" dirty="0"/>
          </a:p>
        </p:txBody>
      </p:sp>
      <p:sp>
        <p:nvSpPr>
          <p:cNvPr id="22" name="Text 20"/>
          <p:cNvSpPr txBox="1"/>
          <p:nvPr/>
        </p:nvSpPr>
        <p:spPr>
          <a:xfrm>
            <a:off x="731520" y="3593592"/>
            <a:ext cx="1133856" cy="237744"/>
          </a:xfrm>
          <a:prstGeom prst="rect">
            <a:avLst/>
          </a:prstGeom>
          <a:noFill/>
          <a:ln/>
        </p:spPr>
        <p:txBody>
          <a:bodyPr wrap="square" lIns="0" tIns="0" rIns="0" bIns="0" rtlCol="0" anchor="ctr">
            <a:normAutofit/>
          </a:bodyPr>
          <a:lstStyle/>
          <a:p>
            <a:pPr algn="l" indent="0" marL="0">
              <a:buNone/>
            </a:pPr>
            <a:r>
              <a:rPr lang="en-US" sz="1000" dirty="0">
                <a:solidFill>
                  <a:srgbClr val="1B2433"/>
                </a:solidFill>
                <a:latin typeface="Aptos" pitchFamily="34" charset="0"/>
                <a:ea typeface="Aptos" pitchFamily="34" charset="-122"/>
                <a:cs typeface="Aptos" pitchFamily="34" charset="-120"/>
              </a:rPr>
              <a:t>Add to cart</a:t>
            </a:r>
            <a:endParaRPr lang="en-US" sz="1000" dirty="0"/>
          </a:p>
        </p:txBody>
      </p:sp>
      <p:sp>
        <p:nvSpPr>
          <p:cNvPr id="23" name="Shape 21"/>
          <p:cNvSpPr/>
          <p:nvPr/>
        </p:nvSpPr>
        <p:spPr>
          <a:xfrm>
            <a:off x="1901952" y="3634740"/>
            <a:ext cx="3172968" cy="173736"/>
          </a:xfrm>
          <a:prstGeom prst="roundRect">
            <a:avLst>
              <a:gd name="adj" fmla="val 26316"/>
            </a:avLst>
          </a:prstGeom>
          <a:solidFill>
            <a:srgbClr val="DCE8FB"/>
          </a:solidFill>
          <a:ln w="10160">
            <a:solidFill>
              <a:srgbClr val="DCE8FB"/>
            </a:solidFill>
            <a:prstDash val="solid"/>
          </a:ln>
        </p:spPr>
      </p:sp>
      <p:sp>
        <p:nvSpPr>
          <p:cNvPr id="24" name="Shape 22"/>
          <p:cNvSpPr/>
          <p:nvPr/>
        </p:nvSpPr>
        <p:spPr>
          <a:xfrm>
            <a:off x="1901952" y="3634740"/>
            <a:ext cx="234245" cy="173736"/>
          </a:xfrm>
          <a:prstGeom prst="roundRect">
            <a:avLst>
              <a:gd name="adj" fmla="val 26316"/>
            </a:avLst>
          </a:prstGeom>
          <a:solidFill>
            <a:srgbClr val="1A73E8"/>
          </a:solidFill>
          <a:ln w="12700">
            <a:solidFill>
              <a:srgbClr val="1A73E8"/>
            </a:solidFill>
            <a:prstDash val="solid"/>
          </a:ln>
        </p:spPr>
      </p:sp>
      <p:sp>
        <p:nvSpPr>
          <p:cNvPr id="25" name="Text 23"/>
          <p:cNvSpPr txBox="1"/>
          <p:nvPr/>
        </p:nvSpPr>
        <p:spPr>
          <a:xfrm>
            <a:off x="5212080" y="3593592"/>
            <a:ext cx="749808" cy="237744"/>
          </a:xfrm>
          <a:prstGeom prst="rect">
            <a:avLst/>
          </a:prstGeom>
          <a:noFill/>
          <a:ln/>
        </p:spPr>
        <p:txBody>
          <a:bodyPr wrap="square" lIns="0" tIns="0" rIns="0" bIns="0" rtlCol="0" anchor="ctr">
            <a:normAutofit/>
          </a:bodyPr>
          <a:lstStyle/>
          <a:p>
            <a:pPr algn="r" indent="0" marL="0">
              <a:buNone/>
            </a:pPr>
            <a:r>
              <a:rPr lang="en-US" sz="1000" b="1" dirty="0">
                <a:solidFill>
                  <a:srgbClr val="14213D"/>
                </a:solidFill>
                <a:latin typeface="Aptos" pitchFamily="34" charset="0"/>
                <a:ea typeface="Aptos" pitchFamily="34" charset="-122"/>
                <a:cs typeface="Aptos" pitchFamily="34" charset="-120"/>
              </a:rPr>
              <a:t>6,704</a:t>
            </a:r>
            <a:endParaRPr lang="en-US" sz="1000" dirty="0"/>
          </a:p>
        </p:txBody>
      </p:sp>
      <p:sp>
        <p:nvSpPr>
          <p:cNvPr id="26" name="Text 24"/>
          <p:cNvSpPr txBox="1"/>
          <p:nvPr/>
        </p:nvSpPr>
        <p:spPr>
          <a:xfrm>
            <a:off x="6016752" y="3593592"/>
            <a:ext cx="1005840" cy="237744"/>
          </a:xfrm>
          <a:prstGeom prst="rect">
            <a:avLst/>
          </a:prstGeom>
          <a:noFill/>
          <a:ln/>
        </p:spPr>
        <p:txBody>
          <a:bodyPr wrap="square" lIns="0" tIns="0" rIns="0" bIns="0" rtlCol="0" anchor="ctr">
            <a:normAutofit/>
          </a:bodyPr>
          <a:lstStyle/>
          <a:p>
            <a:pPr algn="r" indent="0" marL="0">
              <a:buNone/>
            </a:pPr>
            <a:r>
              <a:rPr lang="en-US" sz="900" b="1" dirty="0">
                <a:solidFill>
                  <a:srgbClr val="1A73E8"/>
                </a:solidFill>
                <a:latin typeface="Aptos" pitchFamily="34" charset="0"/>
                <a:ea typeface="Aptos" pitchFamily="34" charset="-122"/>
                <a:cs typeface="Aptos" pitchFamily="34" charset="-120"/>
              </a:rPr>
              <a:t>30.94%</a:t>
            </a:r>
            <a:endParaRPr lang="en-US" sz="900" dirty="0"/>
          </a:p>
        </p:txBody>
      </p:sp>
      <p:sp>
        <p:nvSpPr>
          <p:cNvPr id="27" name="Text 25"/>
          <p:cNvSpPr txBox="1"/>
          <p:nvPr/>
        </p:nvSpPr>
        <p:spPr>
          <a:xfrm>
            <a:off x="1920240" y="3822192"/>
            <a:ext cx="3291840" cy="164592"/>
          </a:xfrm>
          <a:prstGeom prst="rect">
            <a:avLst/>
          </a:prstGeom>
          <a:noFill/>
          <a:ln/>
        </p:spPr>
        <p:txBody>
          <a:bodyPr wrap="square" lIns="0" tIns="0" rIns="0" bIns="0" rtlCol="0" anchor="ctr">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14,966 lost · 69.1%</a:t>
            </a:r>
            <a:endParaRPr lang="en-US" sz="790" dirty="0"/>
          </a:p>
        </p:txBody>
      </p:sp>
      <p:sp>
        <p:nvSpPr>
          <p:cNvPr id="28" name="Text 26"/>
          <p:cNvSpPr txBox="1"/>
          <p:nvPr/>
        </p:nvSpPr>
        <p:spPr>
          <a:xfrm>
            <a:off x="731520" y="4233672"/>
            <a:ext cx="1133856" cy="237744"/>
          </a:xfrm>
          <a:prstGeom prst="rect">
            <a:avLst/>
          </a:prstGeom>
          <a:noFill/>
          <a:ln/>
        </p:spPr>
        <p:txBody>
          <a:bodyPr wrap="square" lIns="0" tIns="0" rIns="0" bIns="0" rtlCol="0" anchor="ctr">
            <a:normAutofit/>
          </a:bodyPr>
          <a:lstStyle/>
          <a:p>
            <a:pPr algn="l" indent="0" marL="0">
              <a:buNone/>
            </a:pPr>
            <a:r>
              <a:rPr lang="en-US" sz="1000" dirty="0">
                <a:solidFill>
                  <a:srgbClr val="1B2433"/>
                </a:solidFill>
                <a:latin typeface="Aptos" pitchFamily="34" charset="0"/>
                <a:ea typeface="Aptos" pitchFamily="34" charset="-122"/>
                <a:cs typeface="Aptos" pitchFamily="34" charset="-120"/>
              </a:rPr>
              <a:t>Begin checkout</a:t>
            </a:r>
            <a:endParaRPr lang="en-US" sz="1000" dirty="0"/>
          </a:p>
        </p:txBody>
      </p:sp>
      <p:sp>
        <p:nvSpPr>
          <p:cNvPr id="29" name="Shape 27"/>
          <p:cNvSpPr/>
          <p:nvPr/>
        </p:nvSpPr>
        <p:spPr>
          <a:xfrm>
            <a:off x="1901952" y="4274820"/>
            <a:ext cx="3172968" cy="173736"/>
          </a:xfrm>
          <a:prstGeom prst="roundRect">
            <a:avLst>
              <a:gd name="adj" fmla="val 26316"/>
            </a:avLst>
          </a:prstGeom>
          <a:solidFill>
            <a:srgbClr val="DCE8FB"/>
          </a:solidFill>
          <a:ln w="10160">
            <a:solidFill>
              <a:srgbClr val="DCE8FB"/>
            </a:solidFill>
            <a:prstDash val="solid"/>
          </a:ln>
        </p:spPr>
      </p:sp>
      <p:sp>
        <p:nvSpPr>
          <p:cNvPr id="30" name="Shape 28"/>
          <p:cNvSpPr/>
          <p:nvPr/>
        </p:nvSpPr>
        <p:spPr>
          <a:xfrm>
            <a:off x="1901952" y="4274820"/>
            <a:ext cx="126662" cy="173736"/>
          </a:xfrm>
          <a:prstGeom prst="roundRect">
            <a:avLst>
              <a:gd name="adj" fmla="val 36096"/>
            </a:avLst>
          </a:prstGeom>
          <a:solidFill>
            <a:srgbClr val="1A73E8"/>
          </a:solidFill>
          <a:ln w="12700">
            <a:solidFill>
              <a:srgbClr val="1A73E8"/>
            </a:solidFill>
            <a:prstDash val="solid"/>
          </a:ln>
        </p:spPr>
      </p:sp>
      <p:sp>
        <p:nvSpPr>
          <p:cNvPr id="31" name="Text 29"/>
          <p:cNvSpPr txBox="1"/>
          <p:nvPr/>
        </p:nvSpPr>
        <p:spPr>
          <a:xfrm>
            <a:off x="5212080" y="4233672"/>
            <a:ext cx="749808" cy="237744"/>
          </a:xfrm>
          <a:prstGeom prst="rect">
            <a:avLst/>
          </a:prstGeom>
          <a:noFill/>
          <a:ln/>
        </p:spPr>
        <p:txBody>
          <a:bodyPr wrap="square" lIns="0" tIns="0" rIns="0" bIns="0" rtlCol="0" anchor="ctr">
            <a:normAutofit/>
          </a:bodyPr>
          <a:lstStyle/>
          <a:p>
            <a:pPr algn="r" indent="0" marL="0">
              <a:buNone/>
            </a:pPr>
            <a:r>
              <a:rPr lang="en-US" sz="1000" b="1" dirty="0">
                <a:solidFill>
                  <a:srgbClr val="14213D"/>
                </a:solidFill>
                <a:latin typeface="Aptos" pitchFamily="34" charset="0"/>
                <a:ea typeface="Aptos" pitchFamily="34" charset="-122"/>
                <a:cs typeface="Aptos" pitchFamily="34" charset="-120"/>
              </a:rPr>
              <a:t>3,625</a:t>
            </a:r>
            <a:endParaRPr lang="en-US" sz="1000" dirty="0"/>
          </a:p>
        </p:txBody>
      </p:sp>
      <p:sp>
        <p:nvSpPr>
          <p:cNvPr id="32" name="Text 30"/>
          <p:cNvSpPr txBox="1"/>
          <p:nvPr/>
        </p:nvSpPr>
        <p:spPr>
          <a:xfrm>
            <a:off x="6016752" y="4233672"/>
            <a:ext cx="1005840" cy="237744"/>
          </a:xfrm>
          <a:prstGeom prst="rect">
            <a:avLst/>
          </a:prstGeom>
          <a:noFill/>
          <a:ln/>
        </p:spPr>
        <p:txBody>
          <a:bodyPr wrap="square" lIns="0" tIns="0" rIns="0" bIns="0" rtlCol="0" anchor="ctr">
            <a:normAutofit/>
          </a:bodyPr>
          <a:lstStyle/>
          <a:p>
            <a:pPr algn="r" indent="0" marL="0">
              <a:buNone/>
            </a:pPr>
            <a:r>
              <a:rPr lang="en-US" sz="900" b="1" dirty="0">
                <a:solidFill>
                  <a:srgbClr val="1A73E8"/>
                </a:solidFill>
                <a:latin typeface="Aptos" pitchFamily="34" charset="0"/>
                <a:ea typeface="Aptos" pitchFamily="34" charset="-122"/>
                <a:cs typeface="Aptos" pitchFamily="34" charset="-120"/>
              </a:rPr>
              <a:t>54.07%</a:t>
            </a:r>
            <a:endParaRPr lang="en-US" sz="900" dirty="0"/>
          </a:p>
        </p:txBody>
      </p:sp>
      <p:sp>
        <p:nvSpPr>
          <p:cNvPr id="33" name="Text 31"/>
          <p:cNvSpPr txBox="1"/>
          <p:nvPr/>
        </p:nvSpPr>
        <p:spPr>
          <a:xfrm>
            <a:off x="1920240" y="4462272"/>
            <a:ext cx="3291840" cy="164592"/>
          </a:xfrm>
          <a:prstGeom prst="rect">
            <a:avLst/>
          </a:prstGeom>
          <a:noFill/>
          <a:ln/>
        </p:spPr>
        <p:txBody>
          <a:bodyPr wrap="square" lIns="0" tIns="0" rIns="0" bIns="0" rtlCol="0" anchor="ctr">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3,079 lost · 45.9%</a:t>
            </a:r>
            <a:endParaRPr lang="en-US" sz="790" dirty="0"/>
          </a:p>
        </p:txBody>
      </p:sp>
      <p:sp>
        <p:nvSpPr>
          <p:cNvPr id="34" name="Text 32"/>
          <p:cNvSpPr txBox="1"/>
          <p:nvPr/>
        </p:nvSpPr>
        <p:spPr>
          <a:xfrm>
            <a:off x="731520" y="4873752"/>
            <a:ext cx="1133856" cy="237744"/>
          </a:xfrm>
          <a:prstGeom prst="rect">
            <a:avLst/>
          </a:prstGeom>
          <a:noFill/>
          <a:ln/>
        </p:spPr>
        <p:txBody>
          <a:bodyPr wrap="square" lIns="0" tIns="0" rIns="0" bIns="0" rtlCol="0" anchor="ctr">
            <a:normAutofit/>
          </a:bodyPr>
          <a:lstStyle/>
          <a:p>
            <a:pPr algn="l" indent="0" marL="0">
              <a:buNone/>
            </a:pPr>
            <a:r>
              <a:rPr lang="en-US" sz="1000" dirty="0">
                <a:solidFill>
                  <a:srgbClr val="1B2433"/>
                </a:solidFill>
                <a:latin typeface="Aptos" pitchFamily="34" charset="0"/>
                <a:ea typeface="Aptos" pitchFamily="34" charset="-122"/>
                <a:cs typeface="Aptos" pitchFamily="34" charset="-120"/>
              </a:rPr>
              <a:t>Purchase</a:t>
            </a:r>
            <a:endParaRPr lang="en-US" sz="1000" dirty="0"/>
          </a:p>
        </p:txBody>
      </p:sp>
      <p:sp>
        <p:nvSpPr>
          <p:cNvPr id="35" name="Shape 33"/>
          <p:cNvSpPr/>
          <p:nvPr/>
        </p:nvSpPr>
        <p:spPr>
          <a:xfrm>
            <a:off x="1901952" y="4914900"/>
            <a:ext cx="3172968" cy="173736"/>
          </a:xfrm>
          <a:prstGeom prst="roundRect">
            <a:avLst>
              <a:gd name="adj" fmla="val 26316"/>
            </a:avLst>
          </a:prstGeom>
          <a:solidFill>
            <a:srgbClr val="DCE8FB"/>
          </a:solidFill>
          <a:ln w="10160">
            <a:solidFill>
              <a:srgbClr val="DCE8FB"/>
            </a:solidFill>
            <a:prstDash val="solid"/>
          </a:ln>
        </p:spPr>
      </p:sp>
      <p:sp>
        <p:nvSpPr>
          <p:cNvPr id="36" name="Shape 34"/>
          <p:cNvSpPr/>
          <p:nvPr/>
        </p:nvSpPr>
        <p:spPr>
          <a:xfrm>
            <a:off x="1901952" y="4914900"/>
            <a:ext cx="66458" cy="173736"/>
          </a:xfrm>
          <a:prstGeom prst="roundRect">
            <a:avLst>
              <a:gd name="adj" fmla="val 68795"/>
            </a:avLst>
          </a:prstGeom>
          <a:solidFill>
            <a:srgbClr val="1A73E8"/>
          </a:solidFill>
          <a:ln w="12700">
            <a:solidFill>
              <a:srgbClr val="1A73E8"/>
            </a:solidFill>
            <a:prstDash val="solid"/>
          </a:ln>
        </p:spPr>
      </p:sp>
      <p:sp>
        <p:nvSpPr>
          <p:cNvPr id="37" name="Text 35"/>
          <p:cNvSpPr txBox="1"/>
          <p:nvPr/>
        </p:nvSpPr>
        <p:spPr>
          <a:xfrm>
            <a:off x="5212080" y="4873752"/>
            <a:ext cx="749808" cy="237744"/>
          </a:xfrm>
          <a:prstGeom prst="rect">
            <a:avLst/>
          </a:prstGeom>
          <a:noFill/>
          <a:ln/>
        </p:spPr>
        <p:txBody>
          <a:bodyPr wrap="square" lIns="0" tIns="0" rIns="0" bIns="0" rtlCol="0" anchor="ctr">
            <a:normAutofit/>
          </a:bodyPr>
          <a:lstStyle/>
          <a:p>
            <a:pPr algn="r" indent="0" marL="0">
              <a:buNone/>
            </a:pPr>
            <a:r>
              <a:rPr lang="en-US" sz="1000" b="1" dirty="0">
                <a:solidFill>
                  <a:srgbClr val="14213D"/>
                </a:solidFill>
                <a:latin typeface="Aptos" pitchFamily="34" charset="0"/>
                <a:ea typeface="Aptos" pitchFamily="34" charset="-122"/>
                <a:cs typeface="Aptos" pitchFamily="34" charset="-120"/>
              </a:rPr>
              <a:t>1,902</a:t>
            </a:r>
            <a:endParaRPr lang="en-US" sz="1000" dirty="0"/>
          </a:p>
        </p:txBody>
      </p:sp>
      <p:sp>
        <p:nvSpPr>
          <p:cNvPr id="38" name="Text 36"/>
          <p:cNvSpPr txBox="1"/>
          <p:nvPr/>
        </p:nvSpPr>
        <p:spPr>
          <a:xfrm>
            <a:off x="6016752" y="4873752"/>
            <a:ext cx="1005840" cy="237744"/>
          </a:xfrm>
          <a:prstGeom prst="rect">
            <a:avLst/>
          </a:prstGeom>
          <a:noFill/>
          <a:ln/>
        </p:spPr>
        <p:txBody>
          <a:bodyPr wrap="square" lIns="0" tIns="0" rIns="0" bIns="0" rtlCol="0" anchor="ctr">
            <a:normAutofit/>
          </a:bodyPr>
          <a:lstStyle/>
          <a:p>
            <a:pPr algn="r" indent="0" marL="0">
              <a:buNone/>
            </a:pPr>
            <a:r>
              <a:rPr lang="en-US" sz="900" b="1" dirty="0">
                <a:solidFill>
                  <a:srgbClr val="1A73E8"/>
                </a:solidFill>
                <a:latin typeface="Aptos" pitchFamily="34" charset="0"/>
                <a:ea typeface="Aptos" pitchFamily="34" charset="-122"/>
                <a:cs typeface="Aptos" pitchFamily="34" charset="-120"/>
              </a:rPr>
              <a:t>52.47%</a:t>
            </a:r>
            <a:endParaRPr lang="en-US" sz="900" dirty="0"/>
          </a:p>
        </p:txBody>
      </p:sp>
      <p:sp>
        <p:nvSpPr>
          <p:cNvPr id="39" name="Text 37"/>
          <p:cNvSpPr txBox="1"/>
          <p:nvPr/>
        </p:nvSpPr>
        <p:spPr>
          <a:xfrm>
            <a:off x="1920240" y="5102352"/>
            <a:ext cx="3291840" cy="164592"/>
          </a:xfrm>
          <a:prstGeom prst="rect">
            <a:avLst/>
          </a:prstGeom>
          <a:noFill/>
          <a:ln/>
        </p:spPr>
        <p:txBody>
          <a:bodyPr wrap="square" lIns="0" tIns="0" rIns="0" bIns="0" rtlCol="0" anchor="ctr">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1,723 lost · 47.5%</a:t>
            </a:r>
            <a:endParaRPr lang="en-US" sz="790" dirty="0"/>
          </a:p>
        </p:txBody>
      </p:sp>
      <p:sp>
        <p:nvSpPr>
          <p:cNvPr id="40" name="Shape 38"/>
          <p:cNvSpPr/>
          <p:nvPr/>
        </p:nvSpPr>
        <p:spPr>
          <a:xfrm>
            <a:off x="731520" y="5577840"/>
            <a:ext cx="6565392" cy="256032"/>
          </a:xfrm>
          <a:prstGeom prst="roundRect">
            <a:avLst>
              <a:gd name="adj" fmla="val 25000"/>
            </a:avLst>
          </a:prstGeom>
          <a:solidFill>
            <a:srgbClr val="DCE8FB"/>
          </a:solidFill>
          <a:ln w="10160">
            <a:solidFill>
              <a:srgbClr val="DCE8FB"/>
            </a:solidFill>
            <a:prstDash val="solid"/>
          </a:ln>
        </p:spPr>
      </p:sp>
      <p:sp>
        <p:nvSpPr>
          <p:cNvPr id="41" name="Text 39"/>
          <p:cNvSpPr txBox="1"/>
          <p:nvPr/>
        </p:nvSpPr>
        <p:spPr>
          <a:xfrm>
            <a:off x="859536" y="5596128"/>
            <a:ext cx="6327648" cy="182880"/>
          </a:xfrm>
          <a:prstGeom prst="rect">
            <a:avLst/>
          </a:prstGeom>
          <a:noFill/>
          <a:ln/>
        </p:spPr>
        <p:txBody>
          <a:bodyPr wrap="square" lIns="0" tIns="0" rIns="0" bIns="0" rtlCol="0" anchor="ctr">
            <a:normAutofit/>
          </a:bodyPr>
          <a:lstStyle/>
          <a:p>
            <a:pPr algn="l" indent="0" marL="0">
              <a:buNone/>
            </a:pPr>
            <a:r>
              <a:rPr lang="en-US" sz="900" b="1" dirty="0">
                <a:solidFill>
                  <a:srgbClr val="14213D"/>
                </a:solidFill>
                <a:latin typeface="Aptos" pitchFamily="34" charset="0"/>
                <a:ea typeface="Aptos" pitchFamily="34" charset="-122"/>
                <a:cs typeface="Aptos" pitchFamily="34" charset="-120"/>
              </a:rPr>
              <a:t>Configured-funnel completion: 1,902 / 90,809 = 2.09% of starting users</a:t>
            </a:r>
            <a:endParaRPr lang="en-US" sz="900" dirty="0"/>
          </a:p>
        </p:txBody>
      </p:sp>
      <p:sp>
        <p:nvSpPr>
          <p:cNvPr id="42" name="Shape 40"/>
          <p:cNvSpPr/>
          <p:nvPr/>
        </p:nvSpPr>
        <p:spPr>
          <a:xfrm>
            <a:off x="7717536" y="1417320"/>
            <a:ext cx="3950208" cy="1316736"/>
          </a:xfrm>
          <a:prstGeom prst="roundRect">
            <a:avLst>
              <a:gd name="adj" fmla="val 8333"/>
            </a:avLst>
          </a:prstGeom>
          <a:solidFill>
            <a:srgbClr val="FCE8E6"/>
          </a:solidFill>
          <a:ln w="10160">
            <a:solidFill>
              <a:srgbClr val="F5D4D2"/>
            </a:solidFill>
            <a:prstDash val="solid"/>
          </a:ln>
        </p:spPr>
      </p:sp>
      <p:sp>
        <p:nvSpPr>
          <p:cNvPr id="43" name="Shape 41"/>
          <p:cNvSpPr/>
          <p:nvPr/>
        </p:nvSpPr>
        <p:spPr>
          <a:xfrm>
            <a:off x="7918704" y="1581912"/>
            <a:ext cx="850392" cy="256032"/>
          </a:xfrm>
          <a:prstGeom prst="roundRect">
            <a:avLst>
              <a:gd name="adj" fmla="val 42857"/>
            </a:avLst>
          </a:prstGeom>
          <a:solidFill>
            <a:srgbClr val="FFFFFF"/>
          </a:solidFill>
          <a:ln w="7620">
            <a:solidFill>
              <a:srgbClr val="FFFFFF"/>
            </a:solidFill>
            <a:prstDash val="solid"/>
          </a:ln>
        </p:spPr>
      </p:sp>
      <p:sp>
        <p:nvSpPr>
          <p:cNvPr id="44" name="Text 42"/>
          <p:cNvSpPr txBox="1"/>
          <p:nvPr/>
        </p:nvSpPr>
        <p:spPr>
          <a:xfrm>
            <a:off x="7964424" y="1586484"/>
            <a:ext cx="758952" cy="237744"/>
          </a:xfrm>
          <a:prstGeom prst="rect">
            <a:avLst/>
          </a:prstGeom>
          <a:noFill/>
          <a:ln/>
        </p:spPr>
        <p:txBody>
          <a:bodyPr wrap="square" lIns="0" tIns="0" rIns="0" bIns="0" rtlCol="0" anchor="ctr">
            <a:normAutofit/>
          </a:bodyPr>
          <a:lstStyle/>
          <a:p>
            <a:pPr algn="ctr" indent="0" marL="0">
              <a:buNone/>
            </a:pPr>
            <a:r>
              <a:rPr lang="en-US" sz="850" b="1" dirty="0">
                <a:solidFill>
                  <a:srgbClr val="C5221F"/>
                </a:solidFill>
                <a:latin typeface="Aptos" pitchFamily="34" charset="0"/>
                <a:ea typeface="Aptos" pitchFamily="34" charset="-122"/>
                <a:cs typeface="Aptos" pitchFamily="34" charset="-120"/>
              </a:rPr>
              <a:t>PRIORITY 1</a:t>
            </a:r>
            <a:endParaRPr lang="en-US" sz="850" dirty="0"/>
          </a:p>
        </p:txBody>
      </p:sp>
      <p:sp>
        <p:nvSpPr>
          <p:cNvPr id="45" name="Text 43"/>
          <p:cNvSpPr txBox="1"/>
          <p:nvPr/>
        </p:nvSpPr>
        <p:spPr>
          <a:xfrm>
            <a:off x="7918704" y="1892808"/>
            <a:ext cx="2011680" cy="347472"/>
          </a:xfrm>
          <a:prstGeom prst="rect">
            <a:avLst/>
          </a:prstGeom>
          <a:noFill/>
          <a:ln/>
        </p:spPr>
        <p:txBody>
          <a:bodyPr wrap="square" lIns="0" tIns="0" rIns="0" bIns="0" rtlCol="0" anchor="ctr">
            <a:normAutofit/>
          </a:bodyPr>
          <a:lstStyle/>
          <a:p>
            <a:pPr algn="l" indent="0" marL="0">
              <a:buNone/>
            </a:pPr>
            <a:r>
              <a:rPr lang="en-US" sz="2200" b="1" dirty="0">
                <a:solidFill>
                  <a:srgbClr val="C5221F"/>
                </a:solidFill>
                <a:latin typeface="Aptos Display" pitchFamily="34" charset="0"/>
                <a:ea typeface="Aptos Display" pitchFamily="34" charset="-122"/>
                <a:cs typeface="Aptos Display" pitchFamily="34" charset="-120"/>
              </a:rPr>
              <a:t>69,139 users</a:t>
            </a:r>
            <a:endParaRPr lang="en-US" sz="2200" dirty="0"/>
          </a:p>
        </p:txBody>
      </p:sp>
      <p:sp>
        <p:nvSpPr>
          <p:cNvPr id="46" name="Text 44"/>
          <p:cNvSpPr txBox="1"/>
          <p:nvPr/>
        </p:nvSpPr>
        <p:spPr>
          <a:xfrm>
            <a:off x="7918704" y="2267712"/>
            <a:ext cx="3383280" cy="329184"/>
          </a:xfrm>
          <a:prstGeom prst="rect">
            <a:avLst/>
          </a:prstGeom>
          <a:noFill/>
          <a:ln/>
        </p:spPr>
        <p:txBody>
          <a:bodyPr wrap="square" lIns="0" tIns="0" rIns="0" bIns="0" rtlCol="0" anchor="t">
            <a:normAutofit/>
          </a:bodyPr>
          <a:lstStyle/>
          <a:p>
            <a:pPr algn="l" indent="0" marL="0">
              <a:buNone/>
            </a:pPr>
            <a:r>
              <a:rPr lang="en-US" sz="930" dirty="0">
                <a:solidFill>
                  <a:srgbClr val="1B2433"/>
                </a:solidFill>
                <a:latin typeface="Aptos" pitchFamily="34" charset="0"/>
                <a:ea typeface="Aptos" pitchFamily="34" charset="-122"/>
                <a:cs typeface="Aptos" pitchFamily="34" charset="-120"/>
              </a:rPr>
              <a:t>did not progress from session start to product view (76.14%).</a:t>
            </a:r>
            <a:endParaRPr lang="en-US" sz="930" dirty="0"/>
          </a:p>
        </p:txBody>
      </p:sp>
      <p:sp>
        <p:nvSpPr>
          <p:cNvPr id="47" name="Shape 45"/>
          <p:cNvSpPr/>
          <p:nvPr/>
        </p:nvSpPr>
        <p:spPr>
          <a:xfrm>
            <a:off x="7717536" y="2871216"/>
            <a:ext cx="3950208" cy="1252728"/>
          </a:xfrm>
          <a:prstGeom prst="roundRect">
            <a:avLst>
              <a:gd name="adj" fmla="val 8759"/>
            </a:avLst>
          </a:prstGeom>
          <a:solidFill>
            <a:srgbClr val="FFF2D8"/>
          </a:solidFill>
          <a:ln w="10160">
            <a:solidFill>
              <a:srgbClr val="F6E3B5"/>
            </a:solidFill>
            <a:prstDash val="solid"/>
          </a:ln>
        </p:spPr>
      </p:sp>
      <p:sp>
        <p:nvSpPr>
          <p:cNvPr id="48" name="Shape 46"/>
          <p:cNvSpPr/>
          <p:nvPr/>
        </p:nvSpPr>
        <p:spPr>
          <a:xfrm>
            <a:off x="7918704" y="3026664"/>
            <a:ext cx="850392" cy="256032"/>
          </a:xfrm>
          <a:prstGeom prst="roundRect">
            <a:avLst>
              <a:gd name="adj" fmla="val 42857"/>
            </a:avLst>
          </a:prstGeom>
          <a:solidFill>
            <a:srgbClr val="FFFFFF"/>
          </a:solidFill>
          <a:ln w="7620">
            <a:solidFill>
              <a:srgbClr val="FFFFFF"/>
            </a:solidFill>
            <a:prstDash val="solid"/>
          </a:ln>
        </p:spPr>
      </p:sp>
      <p:sp>
        <p:nvSpPr>
          <p:cNvPr id="49" name="Text 47"/>
          <p:cNvSpPr txBox="1"/>
          <p:nvPr/>
        </p:nvSpPr>
        <p:spPr>
          <a:xfrm>
            <a:off x="7964424" y="3031236"/>
            <a:ext cx="758952" cy="237744"/>
          </a:xfrm>
          <a:prstGeom prst="rect">
            <a:avLst/>
          </a:prstGeom>
          <a:noFill/>
          <a:ln/>
        </p:spPr>
        <p:txBody>
          <a:bodyPr wrap="square" lIns="0" tIns="0" rIns="0" bIns="0" rtlCol="0" anchor="ctr">
            <a:normAutofit/>
          </a:bodyPr>
          <a:lstStyle/>
          <a:p>
            <a:pPr algn="ctr" indent="0" marL="0">
              <a:buNone/>
            </a:pPr>
            <a:r>
              <a:rPr lang="en-US" sz="850" b="1" dirty="0">
                <a:solidFill>
                  <a:srgbClr val="A85D00"/>
                </a:solidFill>
                <a:latin typeface="Aptos" pitchFamily="34" charset="0"/>
                <a:ea typeface="Aptos" pitchFamily="34" charset="-122"/>
                <a:cs typeface="Aptos" pitchFamily="34" charset="-120"/>
              </a:rPr>
              <a:t>PRIORITY 2</a:t>
            </a:r>
            <a:endParaRPr lang="en-US" sz="850" dirty="0"/>
          </a:p>
        </p:txBody>
      </p:sp>
      <p:sp>
        <p:nvSpPr>
          <p:cNvPr id="50" name="Text 48"/>
          <p:cNvSpPr txBox="1"/>
          <p:nvPr/>
        </p:nvSpPr>
        <p:spPr>
          <a:xfrm>
            <a:off x="7918704" y="3328416"/>
            <a:ext cx="2011680" cy="329184"/>
          </a:xfrm>
          <a:prstGeom prst="rect">
            <a:avLst/>
          </a:prstGeom>
          <a:noFill/>
          <a:ln/>
        </p:spPr>
        <p:txBody>
          <a:bodyPr wrap="square" lIns="0" tIns="0" rIns="0" bIns="0" rtlCol="0" anchor="ctr">
            <a:normAutofit/>
          </a:bodyPr>
          <a:lstStyle/>
          <a:p>
            <a:pPr algn="l" indent="0" marL="0">
              <a:buNone/>
            </a:pPr>
            <a:r>
              <a:rPr lang="en-US" sz="2100" b="1" dirty="0">
                <a:solidFill>
                  <a:srgbClr val="A85D00"/>
                </a:solidFill>
                <a:latin typeface="Aptos Display" pitchFamily="34" charset="0"/>
                <a:ea typeface="Aptos Display" pitchFamily="34" charset="-122"/>
                <a:cs typeface="Aptos Display" pitchFamily="34" charset="-120"/>
              </a:rPr>
              <a:t>14,966 users</a:t>
            </a:r>
            <a:endParaRPr lang="en-US" sz="2100" dirty="0"/>
          </a:p>
        </p:txBody>
      </p:sp>
      <p:sp>
        <p:nvSpPr>
          <p:cNvPr id="51" name="Text 49"/>
          <p:cNvSpPr txBox="1"/>
          <p:nvPr/>
        </p:nvSpPr>
        <p:spPr>
          <a:xfrm>
            <a:off x="7918704" y="3685032"/>
            <a:ext cx="3383280" cy="292608"/>
          </a:xfrm>
          <a:prstGeom prst="rect">
            <a:avLst/>
          </a:prstGeom>
          <a:noFill/>
          <a:ln/>
        </p:spPr>
        <p:txBody>
          <a:bodyPr wrap="square" lIns="0" tIns="0" rIns="0" bIns="0" rtlCol="0" anchor="t">
            <a:normAutofit/>
          </a:bodyPr>
          <a:lstStyle/>
          <a:p>
            <a:pPr algn="l" indent="0" marL="0">
              <a:buNone/>
            </a:pPr>
            <a:r>
              <a:rPr lang="en-US" sz="930" dirty="0">
                <a:solidFill>
                  <a:srgbClr val="1B2433"/>
                </a:solidFill>
                <a:latin typeface="Aptos" pitchFamily="34" charset="0"/>
                <a:ea typeface="Aptos" pitchFamily="34" charset="-122"/>
                <a:cs typeface="Aptos" pitchFamily="34" charset="-120"/>
              </a:rPr>
              <a:t>viewed a product but did not reach add-to-cart (69.06%).</a:t>
            </a:r>
            <a:endParaRPr lang="en-US" sz="930" dirty="0"/>
          </a:p>
        </p:txBody>
      </p:sp>
      <p:sp>
        <p:nvSpPr>
          <p:cNvPr id="52" name="Shape 50"/>
          <p:cNvSpPr/>
          <p:nvPr/>
        </p:nvSpPr>
        <p:spPr>
          <a:xfrm>
            <a:off x="7717536" y="4261104"/>
            <a:ext cx="3950208" cy="1170432"/>
          </a:xfrm>
          <a:prstGeom prst="roundRect">
            <a:avLst>
              <a:gd name="adj" fmla="val 9375"/>
            </a:avLst>
          </a:prstGeom>
          <a:solidFill>
            <a:srgbClr val="FFFFFF"/>
          </a:solidFill>
          <a:ln w="10160">
            <a:solidFill>
              <a:srgbClr val="E1E5EE"/>
            </a:solidFill>
            <a:prstDash val="solid"/>
          </a:ln>
        </p:spPr>
      </p:sp>
      <p:sp>
        <p:nvSpPr>
          <p:cNvPr id="53" name="Text 51"/>
          <p:cNvSpPr txBox="1"/>
          <p:nvPr/>
        </p:nvSpPr>
        <p:spPr>
          <a:xfrm>
            <a:off x="7918704" y="4407408"/>
            <a:ext cx="2194560" cy="173736"/>
          </a:xfrm>
          <a:prstGeom prst="rect">
            <a:avLst/>
          </a:prstGeom>
          <a:noFill/>
          <a:ln/>
        </p:spPr>
        <p:txBody>
          <a:bodyPr wrap="square" lIns="0" tIns="0" rIns="0" bIns="0" rtlCol="0" anchor="ctr">
            <a:normAutofit/>
          </a:bodyPr>
          <a:lstStyle/>
          <a:p>
            <a:pPr algn="l" indent="0" marL="0">
              <a:buNone/>
            </a:pPr>
            <a:r>
              <a:rPr lang="en-US" sz="800" b="1" spc="50" kern="0" dirty="0">
                <a:solidFill>
                  <a:srgbClr val="566074"/>
                </a:solidFill>
                <a:latin typeface="Aptos" pitchFamily="34" charset="0"/>
                <a:ea typeface="Aptos" pitchFamily="34" charset="-122"/>
                <a:cs typeface="Aptos" pitchFamily="34" charset="-120"/>
              </a:rPr>
              <a:t>CHECKOUT SIGNAL</a:t>
            </a:r>
            <a:endParaRPr lang="en-US" sz="800" dirty="0"/>
          </a:p>
        </p:txBody>
      </p:sp>
      <p:sp>
        <p:nvSpPr>
          <p:cNvPr id="54" name="Text 52"/>
          <p:cNvSpPr txBox="1"/>
          <p:nvPr/>
        </p:nvSpPr>
        <p:spPr>
          <a:xfrm>
            <a:off x="7918704" y="4663440"/>
            <a:ext cx="3291840" cy="274320"/>
          </a:xfrm>
          <a:prstGeom prst="rect">
            <a:avLst/>
          </a:prstGeom>
          <a:noFill/>
          <a:ln/>
        </p:spPr>
        <p:txBody>
          <a:bodyPr wrap="square" lIns="0" tIns="0" rIns="0" bIns="0" rtlCol="0" anchor="ctr">
            <a:normAutofit/>
          </a:bodyPr>
          <a:lstStyle/>
          <a:p>
            <a:pPr algn="l" indent="0" marL="0">
              <a:buNone/>
            </a:pPr>
            <a:r>
              <a:rPr lang="en-US" sz="1500" b="1" dirty="0">
                <a:solidFill>
                  <a:srgbClr val="14213D"/>
                </a:solidFill>
                <a:latin typeface="Aptos" pitchFamily="34" charset="0"/>
                <a:ea typeface="Aptos" pitchFamily="34" charset="-122"/>
                <a:cs typeface="Aptos" pitchFamily="34" charset="-120"/>
              </a:rPr>
              <a:t>47.53% checkout drop-off</a:t>
            </a:r>
            <a:endParaRPr lang="en-US" sz="1500" dirty="0"/>
          </a:p>
        </p:txBody>
      </p:sp>
      <p:sp>
        <p:nvSpPr>
          <p:cNvPr id="55" name="Text 53"/>
          <p:cNvSpPr txBox="1"/>
          <p:nvPr/>
        </p:nvSpPr>
        <p:spPr>
          <a:xfrm>
            <a:off x="7918704" y="4983480"/>
            <a:ext cx="3383280" cy="283464"/>
          </a:xfrm>
          <a:prstGeom prst="rect">
            <a:avLst/>
          </a:prstGeom>
          <a:noFill/>
          <a:ln/>
        </p:spPr>
        <p:txBody>
          <a:bodyPr wrap="square" lIns="0" tIns="0" rIns="0" bIns="0" rtlCol="0" anchor="t">
            <a:normAutofit/>
          </a:bodyPr>
          <a:lstStyle/>
          <a:p>
            <a:pPr algn="l" indent="0" marL="0">
              <a:buNone/>
            </a:pPr>
            <a:r>
              <a:rPr lang="en-US" sz="900" dirty="0">
                <a:solidFill>
                  <a:srgbClr val="566074"/>
                </a:solidFill>
                <a:latin typeface="Aptos" pitchFamily="34" charset="0"/>
                <a:ea typeface="Aptos" pitchFamily="34" charset="-122"/>
                <a:cs typeface="Aptos" pitchFamily="34" charset="-120"/>
              </a:rPr>
              <a:t>1,723 of 3,625 checkout users did not reach purchase.</a:t>
            </a:r>
            <a:endParaRPr lang="en-US" sz="900" dirty="0"/>
          </a:p>
        </p:txBody>
      </p:sp>
      <p:sp>
        <p:nvSpPr>
          <p:cNvPr id="56" name="Shape 54"/>
          <p:cNvSpPr/>
          <p:nvPr/>
        </p:nvSpPr>
        <p:spPr>
          <a:xfrm>
            <a:off x="7717536" y="5541264"/>
            <a:ext cx="3950208" cy="402336"/>
          </a:xfrm>
          <a:prstGeom prst="roundRect">
            <a:avLst>
              <a:gd name="adj" fmla="val 18182"/>
            </a:avLst>
          </a:prstGeom>
          <a:solidFill>
            <a:srgbClr val="14213D"/>
          </a:solidFill>
          <a:ln w="10160">
            <a:solidFill>
              <a:srgbClr val="14213D"/>
            </a:solidFill>
            <a:prstDash val="solid"/>
          </a:ln>
        </p:spPr>
      </p:sp>
      <p:sp>
        <p:nvSpPr>
          <p:cNvPr id="57" name="Text 55"/>
          <p:cNvSpPr txBox="1"/>
          <p:nvPr/>
        </p:nvSpPr>
        <p:spPr>
          <a:xfrm>
            <a:off x="7872984" y="5623560"/>
            <a:ext cx="3657600" cy="201168"/>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Aptos" pitchFamily="34" charset="0"/>
                <a:ea typeface="Aptos" pitchFamily="34" charset="-122"/>
                <a:cs typeface="Aptos" pitchFamily="34" charset="-120"/>
              </a:rPr>
              <a:t>Funnel shows WHERE—not WHY users leave.</a:t>
            </a:r>
            <a:endParaRPr lang="en-US" sz="930" dirty="0"/>
          </a:p>
        </p:txBody>
      </p:sp>
      <p:sp>
        <p:nvSpPr>
          <p:cNvPr id="58" name="Text 56"/>
          <p:cNvSpPr txBox="1"/>
          <p:nvPr/>
        </p:nvSpPr>
        <p:spPr>
          <a:xfrm>
            <a:off x="566928" y="6245352"/>
            <a:ext cx="10744200" cy="146304"/>
          </a:xfrm>
          <a:prstGeom prst="rect">
            <a:avLst/>
          </a:prstGeom>
          <a:noFill/>
          <a:ln/>
        </p:spPr>
        <p:txBody>
          <a:bodyPr wrap="square" lIns="0" tIns="0" rIns="0" bIns="0" rtlCol="0" anchor="ctr">
            <a:normAutofit/>
          </a:bodyPr>
          <a:lstStyle/>
          <a:p>
            <a:pPr algn="l" indent="0" marL="0">
              <a:buNone/>
            </a:pPr>
            <a:r>
              <a:rPr lang="en-US" sz="720" dirty="0">
                <a:solidFill>
                  <a:srgbClr val="566074"/>
                </a:solidFill>
                <a:latin typeface="Aptos" pitchFamily="34" charset="0"/>
                <a:ea typeface="Aptos" pitchFamily="34" charset="-122"/>
                <a:cs typeface="Aptos" pitchFamily="34" charset="-120"/>
              </a:rPr>
              <a:t>Source: supplied GA4 Purchase journey screenshot. Funnel stages are configured events; stage progression is user-based. GA4 Funnel exploration guidance: support.google.com/analytics/answer/9327974.</a:t>
            </a:r>
            <a:endParaRPr lang="en-US" sz="72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10896"/>
            <a:ext cx="5029200" cy="164592"/>
          </a:xfrm>
          <a:prstGeom prst="rect">
            <a:avLst/>
          </a:prstGeom>
          <a:noFill/>
          <a:ln/>
        </p:spPr>
        <p:txBody>
          <a:bodyPr wrap="square" lIns="0" tIns="0" rIns="0" bIns="0" rtlCol="0" anchor="ctr">
            <a:normAutofit/>
          </a:bodyPr>
          <a:lstStyle/>
          <a:p>
            <a:pPr algn="l" indent="0" marL="0">
              <a:buNone/>
            </a:pPr>
            <a:r>
              <a:rPr lang="en-US" sz="820" b="1" spc="50" kern="0" dirty="0">
                <a:solidFill>
                  <a:srgbClr val="1A73E8"/>
                </a:solidFill>
                <a:latin typeface="Aptos" pitchFamily="34" charset="0"/>
                <a:ea typeface="Aptos" pitchFamily="34" charset="-122"/>
                <a:cs typeface="Aptos" pitchFamily="34" charset="-120"/>
              </a:rPr>
              <a:t>02 / COMPARATIVE EVIDENCE</a:t>
            </a:r>
            <a:endParaRPr lang="en-US" sz="820" dirty="0"/>
          </a:p>
        </p:txBody>
      </p:sp>
      <p:sp>
        <p:nvSpPr>
          <p:cNvPr id="3" name="Text 1"/>
          <p:cNvSpPr txBox="1"/>
          <p:nvPr/>
        </p:nvSpPr>
        <p:spPr>
          <a:xfrm>
            <a:off x="566928" y="557784"/>
            <a:ext cx="10972800" cy="411480"/>
          </a:xfrm>
          <a:prstGeom prst="rect">
            <a:avLst/>
          </a:prstGeom>
          <a:noFill/>
          <a:ln/>
        </p:spPr>
        <p:txBody>
          <a:bodyPr wrap="square" lIns="0" tIns="0" rIns="0" bIns="0" rtlCol="0" anchor="ctr">
            <a:normAutofit/>
          </a:bodyPr>
          <a:lstStyle/>
          <a:p>
            <a:pPr algn="l" indent="0" marL="0">
              <a:buNone/>
            </a:pPr>
            <a:r>
              <a:rPr lang="en-US" sz="2400" b="1" dirty="0">
                <a:solidFill>
                  <a:srgbClr val="14213D"/>
                </a:solidFill>
                <a:latin typeface="Aptos Display" pitchFamily="34" charset="0"/>
                <a:ea typeface="Aptos Display" pitchFamily="34" charset="-122"/>
                <a:cs typeface="Aptos Display" pitchFamily="34" charset="-120"/>
              </a:rPr>
              <a:t>The biggest gaps appear across device, channel and product</a:t>
            </a:r>
            <a:endParaRPr lang="en-US" sz="2400" dirty="0"/>
          </a:p>
        </p:txBody>
      </p:sp>
      <p:sp>
        <p:nvSpPr>
          <p:cNvPr id="4" name="Text 2"/>
          <p:cNvSpPr txBox="1"/>
          <p:nvPr/>
        </p:nvSpPr>
        <p:spPr>
          <a:xfrm>
            <a:off x="585216" y="1005840"/>
            <a:ext cx="10972800" cy="274320"/>
          </a:xfrm>
          <a:prstGeom prst="rect">
            <a:avLst/>
          </a:prstGeom>
          <a:noFill/>
          <a:ln/>
        </p:spPr>
        <p:txBody>
          <a:bodyPr wrap="square" lIns="0" tIns="0" rIns="0" bIns="0" rtlCol="0" anchor="ctr">
            <a:normAutofit/>
          </a:bodyPr>
          <a:lstStyle/>
          <a:p>
            <a:pPr algn="l" indent="0" marL="0">
              <a:buNone/>
            </a:pPr>
            <a:r>
              <a:rPr lang="en-US" sz="1050" dirty="0">
                <a:solidFill>
                  <a:srgbClr val="566074"/>
                </a:solidFill>
                <a:latin typeface="Aptos" pitchFamily="34" charset="0"/>
                <a:ea typeface="Aptos" pitchFamily="34" charset="-122"/>
                <a:cs typeface="Aptos" pitchFamily="34" charset="-120"/>
              </a:rPr>
              <a:t>Three descriptive comparisons identify where to investigate—not what caused the differences</a:t>
            </a:r>
            <a:endParaRPr lang="en-US" sz="1050" dirty="0"/>
          </a:p>
        </p:txBody>
      </p:sp>
      <p:sp>
        <p:nvSpPr>
          <p:cNvPr id="5" name="Shape 3"/>
          <p:cNvSpPr/>
          <p:nvPr/>
        </p:nvSpPr>
        <p:spPr>
          <a:xfrm>
            <a:off x="512064" y="1417320"/>
            <a:ext cx="3703320" cy="4562856"/>
          </a:xfrm>
          <a:prstGeom prst="roundRect">
            <a:avLst>
              <a:gd name="adj" fmla="val 2963"/>
            </a:avLst>
          </a:prstGeom>
          <a:solidFill>
            <a:srgbClr val="FFFFFF"/>
          </a:solidFill>
          <a:ln w="10160">
            <a:solidFill>
              <a:srgbClr val="E1E5EE"/>
            </a:solidFill>
            <a:prstDash val="solid"/>
          </a:ln>
        </p:spPr>
      </p:sp>
      <p:sp>
        <p:nvSpPr>
          <p:cNvPr id="6" name="Text 4"/>
          <p:cNvSpPr txBox="1"/>
          <p:nvPr/>
        </p:nvSpPr>
        <p:spPr>
          <a:xfrm>
            <a:off x="676656" y="1545336"/>
            <a:ext cx="3374136" cy="228600"/>
          </a:xfrm>
          <a:prstGeom prst="rect">
            <a:avLst/>
          </a:prstGeom>
          <a:noFill/>
          <a:ln/>
        </p:spPr>
        <p:txBody>
          <a:bodyPr wrap="square" lIns="0" tIns="0" rIns="0" bIns="0" rtlCol="0" anchor="ctr">
            <a:normAutofit/>
          </a:bodyPr>
          <a:lstStyle/>
          <a:p>
            <a:pPr algn="l" indent="0" marL="0">
              <a:buNone/>
            </a:pPr>
            <a:r>
              <a:rPr lang="en-US" sz="1250" b="1" dirty="0">
                <a:solidFill>
                  <a:srgbClr val="14213D"/>
                </a:solidFill>
                <a:latin typeface="Aptos" pitchFamily="34" charset="0"/>
                <a:ea typeface="Aptos" pitchFamily="34" charset="-122"/>
                <a:cs typeface="Aptos" pitchFamily="34" charset="-120"/>
              </a:rPr>
              <a:t>Device funnel completion</a:t>
            </a:r>
            <a:endParaRPr lang="en-US" sz="1250" dirty="0"/>
          </a:p>
        </p:txBody>
      </p:sp>
      <p:sp>
        <p:nvSpPr>
          <p:cNvPr id="7" name="Text 5"/>
          <p:cNvSpPr txBox="1"/>
          <p:nvPr/>
        </p:nvSpPr>
        <p:spPr>
          <a:xfrm>
            <a:off x="676656" y="1801368"/>
            <a:ext cx="3374136" cy="228600"/>
          </a:xfrm>
          <a:prstGeom prst="rect">
            <a:avLst/>
          </a:prstGeom>
          <a:noFill/>
          <a:ln/>
        </p:spPr>
        <p:txBody>
          <a:bodyPr wrap="square" lIns="0" tIns="0" rIns="0" bIns="0" rtlCol="0" anchor="ctr">
            <a:normAutofit/>
          </a:bodyPr>
          <a:lstStyle/>
          <a:p>
            <a:pPr algn="l" indent="0" marL="0">
              <a:buNone/>
            </a:pPr>
            <a:r>
              <a:rPr lang="en-US" sz="850" dirty="0">
                <a:solidFill>
                  <a:srgbClr val="566074"/>
                </a:solidFill>
                <a:latin typeface="Aptos" pitchFamily="34" charset="0"/>
                <a:ea typeface="Aptos" pitchFamily="34" charset="-122"/>
                <a:cs typeface="Aptos" pitchFamily="34" charset="-120"/>
              </a:rPr>
              <a:t>Purchase users ÷ session-start users</a:t>
            </a:r>
            <a:endParaRPr lang="en-US" sz="850" dirty="0"/>
          </a:p>
        </p:txBody>
      </p:sp>
      <p:sp>
        <p:nvSpPr>
          <p:cNvPr id="8" name="Text 6"/>
          <p:cNvSpPr txBox="1"/>
          <p:nvPr/>
        </p:nvSpPr>
        <p:spPr>
          <a:xfrm>
            <a:off x="749808" y="2011680"/>
            <a:ext cx="914400" cy="201168"/>
          </a:xfrm>
          <a:prstGeom prst="rect">
            <a:avLst/>
          </a:prstGeom>
          <a:noFill/>
          <a:ln/>
        </p:spPr>
        <p:txBody>
          <a:bodyPr wrap="square" lIns="0" tIns="0" rIns="0" bIns="0" rtlCol="0" anchor="ctr">
            <a:normAutofit/>
          </a:bodyPr>
          <a:lstStyle/>
          <a:p>
            <a:pPr algn="l" indent="0" marL="0">
              <a:buNone/>
            </a:pPr>
            <a:r>
              <a:rPr lang="en-US" sz="1000" b="1" dirty="0">
                <a:solidFill>
                  <a:srgbClr val="1B2433"/>
                </a:solidFill>
                <a:latin typeface="Aptos" pitchFamily="34" charset="0"/>
                <a:ea typeface="Aptos" pitchFamily="34" charset="-122"/>
                <a:cs typeface="Aptos" pitchFamily="34" charset="-120"/>
              </a:rPr>
              <a:t>Mobile</a:t>
            </a:r>
            <a:endParaRPr lang="en-US" sz="1000" dirty="0"/>
          </a:p>
        </p:txBody>
      </p:sp>
      <p:sp>
        <p:nvSpPr>
          <p:cNvPr id="9" name="Shape 7"/>
          <p:cNvSpPr/>
          <p:nvPr/>
        </p:nvSpPr>
        <p:spPr>
          <a:xfrm>
            <a:off x="1609344" y="2048256"/>
            <a:ext cx="1508760" cy="155448"/>
          </a:xfrm>
          <a:prstGeom prst="roundRect">
            <a:avLst>
              <a:gd name="adj" fmla="val 29412"/>
            </a:avLst>
          </a:prstGeom>
          <a:solidFill>
            <a:srgbClr val="DCE8FB"/>
          </a:solidFill>
          <a:ln w="10160">
            <a:solidFill>
              <a:srgbClr val="DCE8FB"/>
            </a:solidFill>
            <a:prstDash val="solid"/>
          </a:ln>
        </p:spPr>
      </p:sp>
      <p:sp>
        <p:nvSpPr>
          <p:cNvPr id="10" name="Shape 8"/>
          <p:cNvSpPr/>
          <p:nvPr/>
        </p:nvSpPr>
        <p:spPr>
          <a:xfrm>
            <a:off x="1609344" y="2048256"/>
            <a:ext cx="63290" cy="155448"/>
          </a:xfrm>
          <a:prstGeom prst="roundRect">
            <a:avLst>
              <a:gd name="adj" fmla="val 57791"/>
            </a:avLst>
          </a:prstGeom>
          <a:solidFill>
            <a:srgbClr val="C5221F"/>
          </a:solidFill>
          <a:ln w="12700">
            <a:solidFill>
              <a:srgbClr val="C5221F"/>
            </a:solidFill>
            <a:prstDash val="solid"/>
          </a:ln>
        </p:spPr>
      </p:sp>
      <p:sp>
        <p:nvSpPr>
          <p:cNvPr id="11" name="Text 9"/>
          <p:cNvSpPr txBox="1"/>
          <p:nvPr/>
        </p:nvSpPr>
        <p:spPr>
          <a:xfrm>
            <a:off x="3172968" y="2002536"/>
            <a:ext cx="786384" cy="219456"/>
          </a:xfrm>
          <a:prstGeom prst="rect">
            <a:avLst/>
          </a:prstGeom>
          <a:noFill/>
          <a:ln/>
        </p:spPr>
        <p:txBody>
          <a:bodyPr wrap="square" lIns="0" tIns="0" rIns="0" bIns="0" rtlCol="0" anchor="ctr">
            <a:normAutofit/>
          </a:bodyPr>
          <a:lstStyle/>
          <a:p>
            <a:pPr algn="r" indent="0" marL="0">
              <a:buNone/>
            </a:pPr>
            <a:r>
              <a:rPr lang="en-US" sz="1100" b="1" dirty="0">
                <a:solidFill>
                  <a:srgbClr val="C5221F"/>
                </a:solidFill>
                <a:latin typeface="Aptos" pitchFamily="34" charset="0"/>
                <a:ea typeface="Aptos" pitchFamily="34" charset="-122"/>
                <a:cs typeface="Aptos" pitchFamily="34" charset="-120"/>
              </a:rPr>
              <a:t>0.25%</a:t>
            </a:r>
            <a:endParaRPr lang="en-US" sz="1100" dirty="0"/>
          </a:p>
        </p:txBody>
      </p:sp>
      <p:sp>
        <p:nvSpPr>
          <p:cNvPr id="12" name="Text 10"/>
          <p:cNvSpPr txBox="1"/>
          <p:nvPr/>
        </p:nvSpPr>
        <p:spPr>
          <a:xfrm>
            <a:off x="749808" y="2258568"/>
            <a:ext cx="3182112" cy="164592"/>
          </a:xfrm>
          <a:prstGeom prst="rect">
            <a:avLst/>
          </a:prstGeom>
          <a:noFill/>
          <a:ln/>
        </p:spPr>
        <p:txBody>
          <a:bodyPr wrap="square" lIns="0" tIns="0" rIns="0" bIns="0" rtlCol="0" anchor="ctr">
            <a:normAutofit/>
          </a:bodyPr>
          <a:lstStyle/>
          <a:p>
            <a:pPr algn="l" indent="0" marL="0">
              <a:buNone/>
            </a:pPr>
            <a:r>
              <a:rPr lang="en-US" sz="810" dirty="0">
                <a:solidFill>
                  <a:srgbClr val="566074"/>
                </a:solidFill>
                <a:latin typeface="Aptos" pitchFamily="34" charset="0"/>
                <a:ea typeface="Aptos" pitchFamily="34" charset="-122"/>
                <a:cs typeface="Aptos" pitchFamily="34" charset="-120"/>
              </a:rPr>
              <a:t>142 / 56,419 users</a:t>
            </a:r>
            <a:endParaRPr lang="en-US" sz="810" dirty="0"/>
          </a:p>
        </p:txBody>
      </p:sp>
      <p:sp>
        <p:nvSpPr>
          <p:cNvPr id="13" name="Text 11"/>
          <p:cNvSpPr txBox="1"/>
          <p:nvPr/>
        </p:nvSpPr>
        <p:spPr>
          <a:xfrm>
            <a:off x="749808" y="2624328"/>
            <a:ext cx="914400" cy="201168"/>
          </a:xfrm>
          <a:prstGeom prst="rect">
            <a:avLst/>
          </a:prstGeom>
          <a:noFill/>
          <a:ln/>
        </p:spPr>
        <p:txBody>
          <a:bodyPr wrap="square" lIns="0" tIns="0" rIns="0" bIns="0" rtlCol="0" anchor="ctr">
            <a:normAutofit/>
          </a:bodyPr>
          <a:lstStyle/>
          <a:p>
            <a:pPr algn="l" indent="0" marL="0">
              <a:buNone/>
            </a:pPr>
            <a:r>
              <a:rPr lang="en-US" sz="1000" b="1" dirty="0">
                <a:solidFill>
                  <a:srgbClr val="1B2433"/>
                </a:solidFill>
                <a:latin typeface="Aptos" pitchFamily="34" charset="0"/>
                <a:ea typeface="Aptos" pitchFamily="34" charset="-122"/>
                <a:cs typeface="Aptos" pitchFamily="34" charset="-120"/>
              </a:rPr>
              <a:t>Desktop</a:t>
            </a:r>
            <a:endParaRPr lang="en-US" sz="1000" dirty="0"/>
          </a:p>
        </p:txBody>
      </p:sp>
      <p:sp>
        <p:nvSpPr>
          <p:cNvPr id="14" name="Shape 12"/>
          <p:cNvSpPr/>
          <p:nvPr/>
        </p:nvSpPr>
        <p:spPr>
          <a:xfrm>
            <a:off x="1609344" y="2660904"/>
            <a:ext cx="1508760" cy="155448"/>
          </a:xfrm>
          <a:prstGeom prst="roundRect">
            <a:avLst>
              <a:gd name="adj" fmla="val 29412"/>
            </a:avLst>
          </a:prstGeom>
          <a:solidFill>
            <a:srgbClr val="DCE8FB"/>
          </a:solidFill>
          <a:ln w="10160">
            <a:solidFill>
              <a:srgbClr val="DCE8FB"/>
            </a:solidFill>
            <a:prstDash val="solid"/>
          </a:ln>
        </p:spPr>
      </p:sp>
      <p:sp>
        <p:nvSpPr>
          <p:cNvPr id="15" name="Shape 13"/>
          <p:cNvSpPr/>
          <p:nvPr/>
        </p:nvSpPr>
        <p:spPr>
          <a:xfrm>
            <a:off x="1609344" y="2660904"/>
            <a:ext cx="1298946" cy="155448"/>
          </a:xfrm>
          <a:prstGeom prst="roundRect">
            <a:avLst>
              <a:gd name="adj" fmla="val 23529"/>
            </a:avLst>
          </a:prstGeom>
          <a:solidFill>
            <a:srgbClr val="188038"/>
          </a:solidFill>
          <a:ln w="12700">
            <a:solidFill>
              <a:srgbClr val="188038"/>
            </a:solidFill>
            <a:prstDash val="solid"/>
          </a:ln>
        </p:spPr>
      </p:sp>
      <p:sp>
        <p:nvSpPr>
          <p:cNvPr id="16" name="Text 14"/>
          <p:cNvSpPr txBox="1"/>
          <p:nvPr/>
        </p:nvSpPr>
        <p:spPr>
          <a:xfrm>
            <a:off x="3172968" y="2615184"/>
            <a:ext cx="786384" cy="219456"/>
          </a:xfrm>
          <a:prstGeom prst="rect">
            <a:avLst/>
          </a:prstGeom>
          <a:noFill/>
          <a:ln/>
        </p:spPr>
        <p:txBody>
          <a:bodyPr wrap="square" lIns="0" tIns="0" rIns="0" bIns="0" rtlCol="0" anchor="ctr">
            <a:normAutofit/>
          </a:bodyPr>
          <a:lstStyle/>
          <a:p>
            <a:pPr algn="r" indent="0" marL="0">
              <a:buNone/>
            </a:pPr>
            <a:r>
              <a:rPr lang="en-US" sz="1100" b="1" dirty="0">
                <a:solidFill>
                  <a:srgbClr val="188038"/>
                </a:solidFill>
                <a:latin typeface="Aptos" pitchFamily="34" charset="0"/>
                <a:ea typeface="Aptos" pitchFamily="34" charset="-122"/>
                <a:cs typeface="Aptos" pitchFamily="34" charset="-120"/>
              </a:rPr>
              <a:t>5.17%</a:t>
            </a:r>
            <a:endParaRPr lang="en-US" sz="1100" dirty="0"/>
          </a:p>
        </p:txBody>
      </p:sp>
      <p:sp>
        <p:nvSpPr>
          <p:cNvPr id="17" name="Text 15"/>
          <p:cNvSpPr txBox="1"/>
          <p:nvPr/>
        </p:nvSpPr>
        <p:spPr>
          <a:xfrm>
            <a:off x="749808" y="2871216"/>
            <a:ext cx="3182112" cy="164592"/>
          </a:xfrm>
          <a:prstGeom prst="rect">
            <a:avLst/>
          </a:prstGeom>
          <a:noFill/>
          <a:ln/>
        </p:spPr>
        <p:txBody>
          <a:bodyPr wrap="square" lIns="0" tIns="0" rIns="0" bIns="0" rtlCol="0" anchor="ctr">
            <a:normAutofit/>
          </a:bodyPr>
          <a:lstStyle/>
          <a:p>
            <a:pPr algn="l" indent="0" marL="0">
              <a:buNone/>
            </a:pPr>
            <a:r>
              <a:rPr lang="en-US" sz="810" dirty="0">
                <a:solidFill>
                  <a:srgbClr val="566074"/>
                </a:solidFill>
                <a:latin typeface="Aptos" pitchFamily="34" charset="0"/>
                <a:ea typeface="Aptos" pitchFamily="34" charset="-122"/>
                <a:cs typeface="Aptos" pitchFamily="34" charset="-120"/>
              </a:rPr>
              <a:t>1,756 / 33,994 users</a:t>
            </a:r>
            <a:endParaRPr lang="en-US" sz="810" dirty="0"/>
          </a:p>
        </p:txBody>
      </p:sp>
      <p:sp>
        <p:nvSpPr>
          <p:cNvPr id="18" name="Text 16"/>
          <p:cNvSpPr txBox="1"/>
          <p:nvPr/>
        </p:nvSpPr>
        <p:spPr>
          <a:xfrm>
            <a:off x="749808" y="3236976"/>
            <a:ext cx="914400" cy="201168"/>
          </a:xfrm>
          <a:prstGeom prst="rect">
            <a:avLst/>
          </a:prstGeom>
          <a:noFill/>
          <a:ln/>
        </p:spPr>
        <p:txBody>
          <a:bodyPr wrap="square" lIns="0" tIns="0" rIns="0" bIns="0" rtlCol="0" anchor="ctr">
            <a:normAutofit/>
          </a:bodyPr>
          <a:lstStyle/>
          <a:p>
            <a:pPr algn="l" indent="0" marL="0">
              <a:buNone/>
            </a:pPr>
            <a:r>
              <a:rPr lang="en-US" sz="1000" b="1" dirty="0">
                <a:solidFill>
                  <a:srgbClr val="1B2433"/>
                </a:solidFill>
                <a:latin typeface="Aptos" pitchFamily="34" charset="0"/>
                <a:ea typeface="Aptos" pitchFamily="34" charset="-122"/>
                <a:cs typeface="Aptos" pitchFamily="34" charset="-120"/>
              </a:rPr>
              <a:t>Tablet</a:t>
            </a:r>
            <a:endParaRPr lang="en-US" sz="1000" dirty="0"/>
          </a:p>
        </p:txBody>
      </p:sp>
      <p:sp>
        <p:nvSpPr>
          <p:cNvPr id="19" name="Shape 17"/>
          <p:cNvSpPr/>
          <p:nvPr/>
        </p:nvSpPr>
        <p:spPr>
          <a:xfrm>
            <a:off x="1609344" y="3273552"/>
            <a:ext cx="1508760" cy="155448"/>
          </a:xfrm>
          <a:prstGeom prst="roundRect">
            <a:avLst>
              <a:gd name="adj" fmla="val 29412"/>
            </a:avLst>
          </a:prstGeom>
          <a:solidFill>
            <a:srgbClr val="DCE8FB"/>
          </a:solidFill>
          <a:ln w="10160">
            <a:solidFill>
              <a:srgbClr val="DCE8FB"/>
            </a:solidFill>
            <a:prstDash val="solid"/>
          </a:ln>
        </p:spPr>
      </p:sp>
      <p:sp>
        <p:nvSpPr>
          <p:cNvPr id="20" name="Shape 18"/>
          <p:cNvSpPr/>
          <p:nvPr/>
        </p:nvSpPr>
        <p:spPr>
          <a:xfrm>
            <a:off x="1609344" y="3273552"/>
            <a:ext cx="155703" cy="155448"/>
          </a:xfrm>
          <a:prstGeom prst="roundRect">
            <a:avLst>
              <a:gd name="adj" fmla="val 23529"/>
            </a:avLst>
          </a:prstGeom>
          <a:solidFill>
            <a:srgbClr val="A85D00"/>
          </a:solidFill>
          <a:ln w="12700">
            <a:solidFill>
              <a:srgbClr val="A85D00"/>
            </a:solidFill>
            <a:prstDash val="solid"/>
          </a:ln>
        </p:spPr>
      </p:sp>
      <p:sp>
        <p:nvSpPr>
          <p:cNvPr id="21" name="Text 19"/>
          <p:cNvSpPr txBox="1"/>
          <p:nvPr/>
        </p:nvSpPr>
        <p:spPr>
          <a:xfrm>
            <a:off x="3172968" y="3227832"/>
            <a:ext cx="786384" cy="219456"/>
          </a:xfrm>
          <a:prstGeom prst="rect">
            <a:avLst/>
          </a:prstGeom>
          <a:noFill/>
          <a:ln/>
        </p:spPr>
        <p:txBody>
          <a:bodyPr wrap="square" lIns="0" tIns="0" rIns="0" bIns="0" rtlCol="0" anchor="ctr">
            <a:normAutofit/>
          </a:bodyPr>
          <a:lstStyle/>
          <a:p>
            <a:pPr algn="r" indent="0" marL="0">
              <a:buNone/>
            </a:pPr>
            <a:r>
              <a:rPr lang="en-US" sz="1100" b="1" dirty="0">
                <a:solidFill>
                  <a:srgbClr val="A85D00"/>
                </a:solidFill>
                <a:latin typeface="Aptos" pitchFamily="34" charset="0"/>
                <a:ea typeface="Aptos" pitchFamily="34" charset="-122"/>
                <a:cs typeface="Aptos" pitchFamily="34" charset="-120"/>
              </a:rPr>
              <a:t>0.62%</a:t>
            </a:r>
            <a:endParaRPr lang="en-US" sz="1100" dirty="0"/>
          </a:p>
        </p:txBody>
      </p:sp>
      <p:sp>
        <p:nvSpPr>
          <p:cNvPr id="22" name="Text 20"/>
          <p:cNvSpPr txBox="1"/>
          <p:nvPr/>
        </p:nvSpPr>
        <p:spPr>
          <a:xfrm>
            <a:off x="749808" y="3483864"/>
            <a:ext cx="3182112" cy="164592"/>
          </a:xfrm>
          <a:prstGeom prst="rect">
            <a:avLst/>
          </a:prstGeom>
          <a:noFill/>
          <a:ln/>
        </p:spPr>
        <p:txBody>
          <a:bodyPr wrap="square" lIns="0" tIns="0" rIns="0" bIns="0" rtlCol="0" anchor="ctr">
            <a:normAutofit/>
          </a:bodyPr>
          <a:lstStyle/>
          <a:p>
            <a:pPr algn="l" indent="0" marL="0">
              <a:buNone/>
            </a:pPr>
            <a:r>
              <a:rPr lang="en-US" sz="810" dirty="0">
                <a:solidFill>
                  <a:srgbClr val="566074"/>
                </a:solidFill>
                <a:latin typeface="Aptos" pitchFamily="34" charset="0"/>
                <a:ea typeface="Aptos" pitchFamily="34" charset="-122"/>
                <a:cs typeface="Aptos" pitchFamily="34" charset="-120"/>
              </a:rPr>
              <a:t>4 / 646 users</a:t>
            </a:r>
            <a:endParaRPr lang="en-US" sz="810" dirty="0"/>
          </a:p>
        </p:txBody>
      </p:sp>
      <p:sp>
        <p:nvSpPr>
          <p:cNvPr id="23" name="Shape 21"/>
          <p:cNvSpPr/>
          <p:nvPr/>
        </p:nvSpPr>
        <p:spPr>
          <a:xfrm>
            <a:off x="749808" y="3941064"/>
            <a:ext cx="3227832" cy="0"/>
          </a:xfrm>
          <a:prstGeom prst="line">
            <a:avLst/>
          </a:prstGeom>
          <a:noFill/>
          <a:ln w="8890">
            <a:solidFill>
              <a:srgbClr val="E1E5EE"/>
            </a:solidFill>
            <a:prstDash val="solid"/>
          </a:ln>
        </p:spPr>
      </p:sp>
      <p:sp>
        <p:nvSpPr>
          <p:cNvPr id="24" name="Text 22"/>
          <p:cNvSpPr txBox="1"/>
          <p:nvPr/>
        </p:nvSpPr>
        <p:spPr>
          <a:xfrm>
            <a:off x="749808" y="4123944"/>
            <a:ext cx="1325880" cy="384048"/>
          </a:xfrm>
          <a:prstGeom prst="rect">
            <a:avLst/>
          </a:prstGeom>
          <a:noFill/>
          <a:ln/>
        </p:spPr>
        <p:txBody>
          <a:bodyPr wrap="square" lIns="0" tIns="0" rIns="0" bIns="0" rtlCol="0" anchor="ctr">
            <a:normAutofit/>
          </a:bodyPr>
          <a:lstStyle/>
          <a:p>
            <a:pPr algn="l" indent="0" marL="0">
              <a:buNone/>
            </a:pPr>
            <a:r>
              <a:rPr lang="en-US" sz="2400" b="1" dirty="0">
                <a:solidFill>
                  <a:srgbClr val="C5221F"/>
                </a:solidFill>
                <a:latin typeface="Aptos Display" pitchFamily="34" charset="0"/>
                <a:ea typeface="Aptos Display" pitchFamily="34" charset="-122"/>
                <a:cs typeface="Aptos Display" pitchFamily="34" charset="-120"/>
              </a:rPr>
              <a:t>≈20.5×</a:t>
            </a:r>
            <a:endParaRPr lang="en-US" sz="2400" dirty="0"/>
          </a:p>
        </p:txBody>
      </p:sp>
      <p:sp>
        <p:nvSpPr>
          <p:cNvPr id="25" name="Text 23"/>
          <p:cNvSpPr txBox="1"/>
          <p:nvPr/>
        </p:nvSpPr>
        <p:spPr>
          <a:xfrm>
            <a:off x="1993392" y="4178808"/>
            <a:ext cx="1938528" cy="274320"/>
          </a:xfrm>
          <a:prstGeom prst="rect">
            <a:avLst/>
          </a:prstGeom>
          <a:noFill/>
          <a:ln/>
        </p:spPr>
        <p:txBody>
          <a:bodyPr wrap="square" lIns="0" tIns="0" rIns="0" bIns="0" rtlCol="0" anchor="ctr">
            <a:normAutofit/>
          </a:bodyPr>
          <a:lstStyle/>
          <a:p>
            <a:pPr algn="l" indent="0" marL="0">
              <a:buNone/>
            </a:pPr>
            <a:r>
              <a:rPr lang="en-US" sz="950" b="1" dirty="0">
                <a:solidFill>
                  <a:srgbClr val="14213D"/>
                </a:solidFill>
                <a:latin typeface="Aptos" pitchFamily="34" charset="0"/>
                <a:ea typeface="Aptos" pitchFamily="34" charset="-122"/>
                <a:cs typeface="Aptos" pitchFamily="34" charset="-120"/>
              </a:rPr>
              <a:t>desktop vs mobile completion</a:t>
            </a:r>
            <a:endParaRPr lang="en-US" sz="950" dirty="0"/>
          </a:p>
        </p:txBody>
      </p:sp>
      <p:sp>
        <p:nvSpPr>
          <p:cNvPr id="26" name="Shape 24"/>
          <p:cNvSpPr/>
          <p:nvPr/>
        </p:nvSpPr>
        <p:spPr>
          <a:xfrm>
            <a:off x="749808" y="4709160"/>
            <a:ext cx="3236976" cy="960120"/>
          </a:xfrm>
          <a:prstGeom prst="roundRect">
            <a:avLst>
              <a:gd name="adj" fmla="val 8571"/>
            </a:avLst>
          </a:prstGeom>
          <a:solidFill>
            <a:srgbClr val="FCE8E6"/>
          </a:solidFill>
          <a:ln w="10160">
            <a:solidFill>
              <a:srgbClr val="F5D4D2"/>
            </a:solidFill>
            <a:prstDash val="solid"/>
          </a:ln>
        </p:spPr>
      </p:sp>
      <p:sp>
        <p:nvSpPr>
          <p:cNvPr id="27" name="Text 25"/>
          <p:cNvSpPr txBox="1"/>
          <p:nvPr/>
        </p:nvSpPr>
        <p:spPr>
          <a:xfrm>
            <a:off x="905256" y="4837176"/>
            <a:ext cx="2880360" cy="182880"/>
          </a:xfrm>
          <a:prstGeom prst="rect">
            <a:avLst/>
          </a:prstGeom>
          <a:noFill/>
          <a:ln/>
        </p:spPr>
        <p:txBody>
          <a:bodyPr wrap="square" lIns="0" tIns="0" rIns="0" bIns="0" rtlCol="0" anchor="ctr">
            <a:normAutofit/>
          </a:bodyPr>
          <a:lstStyle/>
          <a:p>
            <a:pPr algn="l" indent="0" marL="0">
              <a:buNone/>
            </a:pPr>
            <a:r>
              <a:rPr lang="en-US" sz="930" b="1" dirty="0">
                <a:solidFill>
                  <a:srgbClr val="C5221F"/>
                </a:solidFill>
                <a:latin typeface="Aptos" pitchFamily="34" charset="0"/>
                <a:ea typeface="Aptos" pitchFamily="34" charset="-122"/>
                <a:cs typeface="Aptos" pitchFamily="34" charset="-120"/>
              </a:rPr>
              <a:t>Investigation, not diagnosis</a:t>
            </a:r>
            <a:endParaRPr lang="en-US" sz="930" dirty="0"/>
          </a:p>
        </p:txBody>
      </p:sp>
      <p:sp>
        <p:nvSpPr>
          <p:cNvPr id="28" name="Text 26"/>
          <p:cNvSpPr txBox="1"/>
          <p:nvPr/>
        </p:nvSpPr>
        <p:spPr>
          <a:xfrm>
            <a:off x="905256" y="5084064"/>
            <a:ext cx="2834640" cy="429768"/>
          </a:xfrm>
          <a:prstGeom prst="rect">
            <a:avLst/>
          </a:prstGeom>
          <a:noFill/>
          <a:ln/>
        </p:spPr>
        <p:txBody>
          <a:bodyPr wrap="square" lIns="0" tIns="0" rIns="0" bIns="0" rtlCol="0" anchor="t">
            <a:normAutofit/>
          </a:bodyPr>
          <a:lstStyle/>
          <a:p>
            <a:pPr algn="l" indent="0" marL="0">
              <a:buNone/>
            </a:pPr>
            <a:r>
              <a:rPr lang="en-US" sz="830" dirty="0">
                <a:solidFill>
                  <a:srgbClr val="1B2433"/>
                </a:solidFill>
                <a:latin typeface="Aptos" pitchFamily="34" charset="0"/>
                <a:ea typeface="Aptos" pitchFamily="34" charset="-122"/>
                <a:cs typeface="Aptos" pitchFamily="34" charset="-120"/>
              </a:rPr>
              <a:t>Check channel mix and mobile journey first. Device rows sum to 91,059 vs 90,809 total; verify report scope.</a:t>
            </a:r>
            <a:endParaRPr lang="en-US" sz="830" dirty="0"/>
          </a:p>
        </p:txBody>
      </p:sp>
      <p:sp>
        <p:nvSpPr>
          <p:cNvPr id="29" name="Shape 27"/>
          <p:cNvSpPr/>
          <p:nvPr/>
        </p:nvSpPr>
        <p:spPr>
          <a:xfrm>
            <a:off x="4389120" y="1417320"/>
            <a:ext cx="7287768" cy="2633472"/>
          </a:xfrm>
          <a:prstGeom prst="roundRect">
            <a:avLst>
              <a:gd name="adj" fmla="val 4167"/>
            </a:avLst>
          </a:prstGeom>
          <a:solidFill>
            <a:srgbClr val="FFFFFF"/>
          </a:solidFill>
          <a:ln w="10160">
            <a:solidFill>
              <a:srgbClr val="E1E5EE"/>
            </a:solidFill>
            <a:prstDash val="solid"/>
          </a:ln>
        </p:spPr>
      </p:sp>
      <p:sp>
        <p:nvSpPr>
          <p:cNvPr id="30" name="Text 28"/>
          <p:cNvSpPr txBox="1"/>
          <p:nvPr/>
        </p:nvSpPr>
        <p:spPr>
          <a:xfrm>
            <a:off x="4553712" y="1545336"/>
            <a:ext cx="6958584" cy="228600"/>
          </a:xfrm>
          <a:prstGeom prst="rect">
            <a:avLst/>
          </a:prstGeom>
          <a:noFill/>
          <a:ln/>
        </p:spPr>
        <p:txBody>
          <a:bodyPr wrap="square" lIns="0" tIns="0" rIns="0" bIns="0" rtlCol="0" anchor="ctr">
            <a:normAutofit/>
          </a:bodyPr>
          <a:lstStyle/>
          <a:p>
            <a:pPr algn="l" indent="0" marL="0">
              <a:buNone/>
            </a:pPr>
            <a:r>
              <a:rPr lang="en-US" sz="1250" b="1" dirty="0">
                <a:solidFill>
                  <a:srgbClr val="14213D"/>
                </a:solidFill>
                <a:latin typeface="Aptos" pitchFamily="34" charset="0"/>
                <a:ea typeface="Aptos" pitchFamily="34" charset="-122"/>
                <a:cs typeface="Aptos" pitchFamily="34" charset="-120"/>
              </a:rPr>
              <a:t>Channel economics: Direct vs Organic Search</a:t>
            </a:r>
            <a:endParaRPr lang="en-US" sz="1250" dirty="0"/>
          </a:p>
        </p:txBody>
      </p:sp>
      <p:sp>
        <p:nvSpPr>
          <p:cNvPr id="31" name="Text 29"/>
          <p:cNvSpPr txBox="1"/>
          <p:nvPr/>
        </p:nvSpPr>
        <p:spPr>
          <a:xfrm>
            <a:off x="4553712" y="1801368"/>
            <a:ext cx="6958584" cy="228600"/>
          </a:xfrm>
          <a:prstGeom prst="rect">
            <a:avLst/>
          </a:prstGeom>
          <a:noFill/>
          <a:ln/>
        </p:spPr>
        <p:txBody>
          <a:bodyPr wrap="square" lIns="0" tIns="0" rIns="0" bIns="0" rtlCol="0" anchor="ctr">
            <a:normAutofit/>
          </a:bodyPr>
          <a:lstStyle/>
          <a:p>
            <a:pPr algn="l" indent="0" marL="0">
              <a:buNone/>
            </a:pPr>
            <a:r>
              <a:rPr lang="en-US" sz="850" dirty="0">
                <a:solidFill>
                  <a:srgbClr val="566074"/>
                </a:solidFill>
                <a:latin typeface="Aptos" pitchFamily="34" charset="0"/>
                <a:ea typeface="Aptos" pitchFamily="34" charset="-122"/>
                <a:cs typeface="Aptos" pitchFamily="34" charset="-120"/>
              </a:rPr>
              <a:t>Direct leads on volume and total revenue; Organic Search has higher revenue per session</a:t>
            </a:r>
            <a:endParaRPr lang="en-US" sz="850" dirty="0"/>
          </a:p>
        </p:txBody>
      </p:sp>
      <p:sp>
        <p:nvSpPr>
          <p:cNvPr id="32" name="Text 30"/>
          <p:cNvSpPr txBox="1"/>
          <p:nvPr/>
        </p:nvSpPr>
        <p:spPr>
          <a:xfrm>
            <a:off x="4617720" y="1920240"/>
            <a:ext cx="2377440" cy="201168"/>
          </a:xfrm>
          <a:prstGeom prst="rect">
            <a:avLst/>
          </a:prstGeom>
          <a:noFill/>
          <a:ln/>
        </p:spPr>
        <p:txBody>
          <a:bodyPr wrap="square" lIns="0" tIns="0" rIns="0" bIns="0" rtlCol="0" anchor="ctr">
            <a:normAutofit/>
          </a:bodyPr>
          <a:lstStyle/>
          <a:p>
            <a:pPr algn="l" indent="0" marL="0">
              <a:buNone/>
            </a:pPr>
            <a:r>
              <a:rPr lang="en-US" sz="840" b="1" spc="50" kern="0" dirty="0">
                <a:solidFill>
                  <a:srgbClr val="566074"/>
                </a:solidFill>
                <a:latin typeface="Aptos" pitchFamily="34" charset="0"/>
                <a:ea typeface="Aptos" pitchFamily="34" charset="-122"/>
                <a:cs typeface="Aptos" pitchFamily="34" charset="-120"/>
              </a:rPr>
              <a:t>DIRECT</a:t>
            </a:r>
            <a:endParaRPr lang="en-US" sz="840" dirty="0"/>
          </a:p>
        </p:txBody>
      </p:sp>
      <p:sp>
        <p:nvSpPr>
          <p:cNvPr id="33" name="Text 31"/>
          <p:cNvSpPr txBox="1"/>
          <p:nvPr/>
        </p:nvSpPr>
        <p:spPr>
          <a:xfrm>
            <a:off x="7982712" y="1920240"/>
            <a:ext cx="2743200" cy="201168"/>
          </a:xfrm>
          <a:prstGeom prst="rect">
            <a:avLst/>
          </a:prstGeom>
          <a:noFill/>
          <a:ln/>
        </p:spPr>
        <p:txBody>
          <a:bodyPr wrap="square" lIns="0" tIns="0" rIns="0" bIns="0" rtlCol="0" anchor="ctr">
            <a:normAutofit/>
          </a:bodyPr>
          <a:lstStyle/>
          <a:p>
            <a:pPr algn="l" indent="0" marL="0">
              <a:buNone/>
            </a:pPr>
            <a:r>
              <a:rPr lang="en-US" sz="840" b="1" spc="50" kern="0" dirty="0">
                <a:solidFill>
                  <a:srgbClr val="566074"/>
                </a:solidFill>
                <a:latin typeface="Aptos" pitchFamily="34" charset="0"/>
                <a:ea typeface="Aptos" pitchFamily="34" charset="-122"/>
                <a:cs typeface="Aptos" pitchFamily="34" charset="-120"/>
              </a:rPr>
              <a:t>ORGANIC SEARCH</a:t>
            </a:r>
            <a:endParaRPr lang="en-US" sz="840" dirty="0"/>
          </a:p>
        </p:txBody>
      </p:sp>
      <p:sp>
        <p:nvSpPr>
          <p:cNvPr id="34" name="Text 32"/>
          <p:cNvSpPr txBox="1"/>
          <p:nvPr/>
        </p:nvSpPr>
        <p:spPr>
          <a:xfrm>
            <a:off x="4617720" y="2176272"/>
            <a:ext cx="2468880" cy="347472"/>
          </a:xfrm>
          <a:prstGeom prst="rect">
            <a:avLst/>
          </a:prstGeom>
          <a:noFill/>
          <a:ln/>
        </p:spPr>
        <p:txBody>
          <a:bodyPr wrap="square" lIns="0" tIns="0" rIns="0" bIns="0" rtlCol="0" anchor="ctr">
            <a:normAutofit/>
          </a:bodyPr>
          <a:lstStyle/>
          <a:p>
            <a:pPr algn="l" indent="0" marL="0">
              <a:buNone/>
            </a:pPr>
            <a:r>
              <a:rPr lang="en-US" sz="2200" b="1" dirty="0">
                <a:solidFill>
                  <a:srgbClr val="14213D"/>
                </a:solidFill>
                <a:latin typeface="Aptos Display" pitchFamily="34" charset="0"/>
                <a:ea typeface="Aptos Display" pitchFamily="34" charset="-122"/>
                <a:cs typeface="Aptos Display" pitchFamily="34" charset="-120"/>
              </a:rPr>
              <a:t>82,432</a:t>
            </a:r>
            <a:endParaRPr lang="en-US" sz="2200" dirty="0"/>
          </a:p>
        </p:txBody>
      </p:sp>
      <p:sp>
        <p:nvSpPr>
          <p:cNvPr id="35" name="Text 33"/>
          <p:cNvSpPr txBox="1"/>
          <p:nvPr/>
        </p:nvSpPr>
        <p:spPr>
          <a:xfrm>
            <a:off x="7982712" y="2176272"/>
            <a:ext cx="2468880" cy="347472"/>
          </a:xfrm>
          <a:prstGeom prst="rect">
            <a:avLst/>
          </a:prstGeom>
          <a:noFill/>
          <a:ln/>
        </p:spPr>
        <p:txBody>
          <a:bodyPr wrap="square" lIns="0" tIns="0" rIns="0" bIns="0" rtlCol="0" anchor="ctr">
            <a:normAutofit/>
          </a:bodyPr>
          <a:lstStyle/>
          <a:p>
            <a:pPr algn="l" indent="0" marL="0">
              <a:buNone/>
            </a:pPr>
            <a:r>
              <a:rPr lang="en-US" sz="2200" b="1" dirty="0">
                <a:solidFill>
                  <a:srgbClr val="14213D"/>
                </a:solidFill>
                <a:latin typeface="Aptos Display" pitchFamily="34" charset="0"/>
                <a:ea typeface="Aptos Display" pitchFamily="34" charset="-122"/>
                <a:cs typeface="Aptos Display" pitchFamily="34" charset="-120"/>
              </a:rPr>
              <a:t>33,386</a:t>
            </a:r>
            <a:endParaRPr lang="en-US" sz="2200" dirty="0"/>
          </a:p>
        </p:txBody>
      </p:sp>
      <p:sp>
        <p:nvSpPr>
          <p:cNvPr id="36" name="Text 34"/>
          <p:cNvSpPr txBox="1"/>
          <p:nvPr/>
        </p:nvSpPr>
        <p:spPr>
          <a:xfrm>
            <a:off x="4617720" y="2523744"/>
            <a:ext cx="1828800" cy="164592"/>
          </a:xfrm>
          <a:prstGeom prst="rect">
            <a:avLst/>
          </a:prstGeom>
          <a:noFill/>
          <a:ln/>
        </p:spPr>
        <p:txBody>
          <a:bodyPr wrap="square" lIns="0" tIns="0" rIns="0" bIns="0" rtlCol="0" anchor="ctr">
            <a:normAutofit/>
          </a:bodyPr>
          <a:lstStyle/>
          <a:p>
            <a:pPr algn="l" indent="0" marL="0">
              <a:buNone/>
            </a:pPr>
            <a:r>
              <a:rPr lang="en-US" sz="850" dirty="0">
                <a:solidFill>
                  <a:srgbClr val="566074"/>
                </a:solidFill>
                <a:latin typeface="Aptos" pitchFamily="34" charset="0"/>
                <a:ea typeface="Aptos" pitchFamily="34" charset="-122"/>
                <a:cs typeface="Aptos" pitchFamily="34" charset="-120"/>
              </a:rPr>
              <a:t>sessions</a:t>
            </a:r>
            <a:endParaRPr lang="en-US" sz="850" dirty="0"/>
          </a:p>
        </p:txBody>
      </p:sp>
      <p:sp>
        <p:nvSpPr>
          <p:cNvPr id="37" name="Text 35"/>
          <p:cNvSpPr txBox="1"/>
          <p:nvPr/>
        </p:nvSpPr>
        <p:spPr>
          <a:xfrm>
            <a:off x="7982712" y="2523744"/>
            <a:ext cx="1828800" cy="164592"/>
          </a:xfrm>
          <a:prstGeom prst="rect">
            <a:avLst/>
          </a:prstGeom>
          <a:noFill/>
          <a:ln/>
        </p:spPr>
        <p:txBody>
          <a:bodyPr wrap="square" lIns="0" tIns="0" rIns="0" bIns="0" rtlCol="0" anchor="ctr">
            <a:normAutofit/>
          </a:bodyPr>
          <a:lstStyle/>
          <a:p>
            <a:pPr algn="l" indent="0" marL="0">
              <a:buNone/>
            </a:pPr>
            <a:r>
              <a:rPr lang="en-US" sz="850" dirty="0">
                <a:solidFill>
                  <a:srgbClr val="566074"/>
                </a:solidFill>
                <a:latin typeface="Aptos" pitchFamily="34" charset="0"/>
                <a:ea typeface="Aptos" pitchFamily="34" charset="-122"/>
                <a:cs typeface="Aptos" pitchFamily="34" charset="-120"/>
              </a:rPr>
              <a:t>sessions</a:t>
            </a:r>
            <a:endParaRPr lang="en-US" sz="850" dirty="0"/>
          </a:p>
        </p:txBody>
      </p:sp>
      <p:sp>
        <p:nvSpPr>
          <p:cNvPr id="38" name="Text 36"/>
          <p:cNvSpPr txBox="1"/>
          <p:nvPr/>
        </p:nvSpPr>
        <p:spPr>
          <a:xfrm>
            <a:off x="4617720" y="2816352"/>
            <a:ext cx="914400" cy="155448"/>
          </a:xfrm>
          <a:prstGeom prst="rect">
            <a:avLst/>
          </a:prstGeom>
          <a:noFill/>
          <a:ln/>
        </p:spPr>
        <p:txBody>
          <a:bodyPr wrap="square" lIns="0" tIns="0" rIns="0" bIns="0" rtlCol="0" anchor="ctr">
            <a:normAutofit/>
          </a:bodyPr>
          <a:lstStyle/>
          <a:p>
            <a:pPr algn="l" indent="0" marL="0">
              <a:buNone/>
            </a:pPr>
            <a:r>
              <a:rPr lang="en-US" sz="800" dirty="0">
                <a:solidFill>
                  <a:srgbClr val="566074"/>
                </a:solidFill>
                <a:latin typeface="Aptos" pitchFamily="34" charset="0"/>
                <a:ea typeface="Aptos" pitchFamily="34" charset="-122"/>
                <a:cs typeface="Aptos" pitchFamily="34" charset="-120"/>
              </a:rPr>
              <a:t>Engagement</a:t>
            </a:r>
            <a:endParaRPr lang="en-US" sz="800" dirty="0"/>
          </a:p>
        </p:txBody>
      </p:sp>
      <p:sp>
        <p:nvSpPr>
          <p:cNvPr id="39" name="Text 37"/>
          <p:cNvSpPr txBox="1"/>
          <p:nvPr/>
        </p:nvSpPr>
        <p:spPr>
          <a:xfrm>
            <a:off x="5669280" y="2816352"/>
            <a:ext cx="822960" cy="155448"/>
          </a:xfrm>
          <a:prstGeom prst="rect">
            <a:avLst/>
          </a:prstGeom>
          <a:noFill/>
          <a:ln/>
        </p:spPr>
        <p:txBody>
          <a:bodyPr wrap="square" lIns="0" tIns="0" rIns="0" bIns="0" rtlCol="0" anchor="ctr">
            <a:normAutofit/>
          </a:bodyPr>
          <a:lstStyle/>
          <a:p>
            <a:pPr algn="r" indent="0" marL="0">
              <a:buNone/>
            </a:pPr>
            <a:r>
              <a:rPr lang="en-US" sz="950" b="1" dirty="0">
                <a:solidFill>
                  <a:srgbClr val="C5221F"/>
                </a:solidFill>
                <a:latin typeface="Aptos" pitchFamily="34" charset="0"/>
                <a:ea typeface="Aptos" pitchFamily="34" charset="-122"/>
                <a:cs typeface="Aptos" pitchFamily="34" charset="-120"/>
              </a:rPr>
              <a:t>33.31%</a:t>
            </a:r>
            <a:endParaRPr lang="en-US" sz="950" dirty="0"/>
          </a:p>
        </p:txBody>
      </p:sp>
      <p:sp>
        <p:nvSpPr>
          <p:cNvPr id="40" name="Text 38"/>
          <p:cNvSpPr txBox="1"/>
          <p:nvPr/>
        </p:nvSpPr>
        <p:spPr>
          <a:xfrm>
            <a:off x="7982712" y="2816352"/>
            <a:ext cx="914400" cy="155448"/>
          </a:xfrm>
          <a:prstGeom prst="rect">
            <a:avLst/>
          </a:prstGeom>
          <a:noFill/>
          <a:ln/>
        </p:spPr>
        <p:txBody>
          <a:bodyPr wrap="square" lIns="0" tIns="0" rIns="0" bIns="0" rtlCol="0" anchor="ctr">
            <a:normAutofit/>
          </a:bodyPr>
          <a:lstStyle/>
          <a:p>
            <a:pPr algn="l" indent="0" marL="0">
              <a:buNone/>
            </a:pPr>
            <a:r>
              <a:rPr lang="en-US" sz="800" dirty="0">
                <a:solidFill>
                  <a:srgbClr val="566074"/>
                </a:solidFill>
                <a:latin typeface="Aptos" pitchFamily="34" charset="0"/>
                <a:ea typeface="Aptos" pitchFamily="34" charset="-122"/>
                <a:cs typeface="Aptos" pitchFamily="34" charset="-120"/>
              </a:rPr>
              <a:t>Engagement</a:t>
            </a:r>
            <a:endParaRPr lang="en-US" sz="800" dirty="0"/>
          </a:p>
        </p:txBody>
      </p:sp>
      <p:sp>
        <p:nvSpPr>
          <p:cNvPr id="41" name="Text 39"/>
          <p:cNvSpPr txBox="1"/>
          <p:nvPr/>
        </p:nvSpPr>
        <p:spPr>
          <a:xfrm>
            <a:off x="9079992" y="2816352"/>
            <a:ext cx="822960" cy="155448"/>
          </a:xfrm>
          <a:prstGeom prst="rect">
            <a:avLst/>
          </a:prstGeom>
          <a:noFill/>
          <a:ln/>
        </p:spPr>
        <p:txBody>
          <a:bodyPr wrap="square" lIns="0" tIns="0" rIns="0" bIns="0" rtlCol="0" anchor="ctr">
            <a:normAutofit/>
          </a:bodyPr>
          <a:lstStyle/>
          <a:p>
            <a:pPr algn="r" indent="0" marL="0">
              <a:buNone/>
            </a:pPr>
            <a:r>
              <a:rPr lang="en-US" sz="950" b="1" dirty="0">
                <a:solidFill>
                  <a:srgbClr val="188038"/>
                </a:solidFill>
                <a:latin typeface="Aptos" pitchFamily="34" charset="0"/>
                <a:ea typeface="Aptos" pitchFamily="34" charset="-122"/>
                <a:cs typeface="Aptos" pitchFamily="34" charset="-120"/>
              </a:rPr>
              <a:t>70.02%</a:t>
            </a:r>
            <a:endParaRPr lang="en-US" sz="950" dirty="0"/>
          </a:p>
        </p:txBody>
      </p:sp>
      <p:sp>
        <p:nvSpPr>
          <p:cNvPr id="42" name="Text 40"/>
          <p:cNvSpPr txBox="1"/>
          <p:nvPr/>
        </p:nvSpPr>
        <p:spPr>
          <a:xfrm>
            <a:off x="4617720" y="3054096"/>
            <a:ext cx="914400" cy="155448"/>
          </a:xfrm>
          <a:prstGeom prst="rect">
            <a:avLst/>
          </a:prstGeom>
          <a:noFill/>
          <a:ln/>
        </p:spPr>
        <p:txBody>
          <a:bodyPr wrap="square" lIns="0" tIns="0" rIns="0" bIns="0" rtlCol="0" anchor="ctr">
            <a:normAutofit/>
          </a:bodyPr>
          <a:lstStyle/>
          <a:p>
            <a:pPr algn="l" indent="0" marL="0">
              <a:buNone/>
            </a:pPr>
            <a:r>
              <a:rPr lang="en-US" sz="800" dirty="0">
                <a:solidFill>
                  <a:srgbClr val="566074"/>
                </a:solidFill>
                <a:latin typeface="Aptos" pitchFamily="34" charset="0"/>
                <a:ea typeface="Aptos" pitchFamily="34" charset="-122"/>
                <a:cs typeface="Aptos" pitchFamily="34" charset="-120"/>
              </a:rPr>
              <a:t>Total revenue</a:t>
            </a:r>
            <a:endParaRPr lang="en-US" sz="800" dirty="0"/>
          </a:p>
        </p:txBody>
      </p:sp>
      <p:sp>
        <p:nvSpPr>
          <p:cNvPr id="43" name="Text 41"/>
          <p:cNvSpPr txBox="1"/>
          <p:nvPr/>
        </p:nvSpPr>
        <p:spPr>
          <a:xfrm>
            <a:off x="5669280" y="3054096"/>
            <a:ext cx="1097280" cy="155448"/>
          </a:xfrm>
          <a:prstGeom prst="rect">
            <a:avLst/>
          </a:prstGeom>
          <a:noFill/>
          <a:ln/>
        </p:spPr>
        <p:txBody>
          <a:bodyPr wrap="square" lIns="0" tIns="0" rIns="0" bIns="0" rtlCol="0" anchor="ctr">
            <a:normAutofit/>
          </a:bodyPr>
          <a:lstStyle/>
          <a:p>
            <a:pPr algn="r" indent="0" marL="0">
              <a:buNone/>
            </a:pPr>
            <a:r>
              <a:rPr lang="en-US" sz="900" b="1" dirty="0">
                <a:solidFill>
                  <a:srgbClr val="14213D"/>
                </a:solidFill>
                <a:latin typeface="Aptos" pitchFamily="34" charset="0"/>
                <a:ea typeface="Aptos" pitchFamily="34" charset="-122"/>
                <a:cs typeface="Aptos" pitchFamily="34" charset="-120"/>
              </a:rPr>
              <a:t>$200,147.51</a:t>
            </a:r>
            <a:endParaRPr lang="en-US" sz="900" dirty="0"/>
          </a:p>
        </p:txBody>
      </p:sp>
      <p:sp>
        <p:nvSpPr>
          <p:cNvPr id="44" name="Text 42"/>
          <p:cNvSpPr txBox="1"/>
          <p:nvPr/>
        </p:nvSpPr>
        <p:spPr>
          <a:xfrm>
            <a:off x="7982712" y="3054096"/>
            <a:ext cx="914400" cy="155448"/>
          </a:xfrm>
          <a:prstGeom prst="rect">
            <a:avLst/>
          </a:prstGeom>
          <a:noFill/>
          <a:ln/>
        </p:spPr>
        <p:txBody>
          <a:bodyPr wrap="square" lIns="0" tIns="0" rIns="0" bIns="0" rtlCol="0" anchor="ctr">
            <a:normAutofit/>
          </a:bodyPr>
          <a:lstStyle/>
          <a:p>
            <a:pPr algn="l" indent="0" marL="0">
              <a:buNone/>
            </a:pPr>
            <a:r>
              <a:rPr lang="en-US" sz="800" dirty="0">
                <a:solidFill>
                  <a:srgbClr val="566074"/>
                </a:solidFill>
                <a:latin typeface="Aptos" pitchFamily="34" charset="0"/>
                <a:ea typeface="Aptos" pitchFamily="34" charset="-122"/>
                <a:cs typeface="Aptos" pitchFamily="34" charset="-120"/>
              </a:rPr>
              <a:t>Total revenue</a:t>
            </a:r>
            <a:endParaRPr lang="en-US" sz="800" dirty="0"/>
          </a:p>
        </p:txBody>
      </p:sp>
      <p:sp>
        <p:nvSpPr>
          <p:cNvPr id="45" name="Text 43"/>
          <p:cNvSpPr txBox="1"/>
          <p:nvPr/>
        </p:nvSpPr>
        <p:spPr>
          <a:xfrm>
            <a:off x="9061704" y="3054096"/>
            <a:ext cx="1133856" cy="155448"/>
          </a:xfrm>
          <a:prstGeom prst="rect">
            <a:avLst/>
          </a:prstGeom>
          <a:noFill/>
          <a:ln/>
        </p:spPr>
        <p:txBody>
          <a:bodyPr wrap="square" lIns="0" tIns="0" rIns="0" bIns="0" rtlCol="0" anchor="ctr">
            <a:normAutofit/>
          </a:bodyPr>
          <a:lstStyle/>
          <a:p>
            <a:pPr algn="r" indent="0" marL="0">
              <a:buNone/>
            </a:pPr>
            <a:r>
              <a:rPr lang="en-US" sz="900" b="1" dirty="0">
                <a:solidFill>
                  <a:srgbClr val="14213D"/>
                </a:solidFill>
                <a:latin typeface="Aptos" pitchFamily="34" charset="0"/>
                <a:ea typeface="Aptos" pitchFamily="34" charset="-122"/>
                <a:cs typeface="Aptos" pitchFamily="34" charset="-120"/>
              </a:rPr>
              <a:t>$112,615.40</a:t>
            </a:r>
            <a:endParaRPr lang="en-US" sz="900" dirty="0"/>
          </a:p>
        </p:txBody>
      </p:sp>
      <p:sp>
        <p:nvSpPr>
          <p:cNvPr id="46" name="Shape 44"/>
          <p:cNvSpPr/>
          <p:nvPr/>
        </p:nvSpPr>
        <p:spPr>
          <a:xfrm>
            <a:off x="7818120" y="1938528"/>
            <a:ext cx="0" cy="1408176"/>
          </a:xfrm>
          <a:prstGeom prst="line">
            <a:avLst/>
          </a:prstGeom>
          <a:noFill/>
          <a:ln w="10160">
            <a:solidFill>
              <a:srgbClr val="E1E5EE"/>
            </a:solidFill>
            <a:prstDash val="solid"/>
          </a:ln>
        </p:spPr>
      </p:sp>
      <p:sp>
        <p:nvSpPr>
          <p:cNvPr id="47" name="Text 45"/>
          <p:cNvSpPr txBox="1"/>
          <p:nvPr/>
        </p:nvSpPr>
        <p:spPr>
          <a:xfrm>
            <a:off x="4617720" y="3410712"/>
            <a:ext cx="1828800" cy="155448"/>
          </a:xfrm>
          <a:prstGeom prst="rect">
            <a:avLst/>
          </a:prstGeom>
          <a:noFill/>
          <a:ln/>
        </p:spPr>
        <p:txBody>
          <a:bodyPr wrap="square" lIns="0" tIns="0" rIns="0" bIns="0" rtlCol="0" anchor="ctr">
            <a:normAutofit/>
          </a:bodyPr>
          <a:lstStyle/>
          <a:p>
            <a:pPr algn="l" indent="0" marL="0">
              <a:buNone/>
            </a:pPr>
            <a:r>
              <a:rPr lang="en-US" sz="800" b="1" dirty="0">
                <a:solidFill>
                  <a:srgbClr val="566074"/>
                </a:solidFill>
                <a:latin typeface="Aptos" pitchFamily="34" charset="0"/>
                <a:ea typeface="Aptos" pitchFamily="34" charset="-122"/>
                <a:cs typeface="Aptos" pitchFamily="34" charset="-120"/>
              </a:rPr>
              <a:t>REVENUE / SESSION</a:t>
            </a:r>
            <a:endParaRPr lang="en-US" sz="800" dirty="0"/>
          </a:p>
        </p:txBody>
      </p:sp>
      <p:sp>
        <p:nvSpPr>
          <p:cNvPr id="48" name="Text 46"/>
          <p:cNvSpPr txBox="1"/>
          <p:nvPr/>
        </p:nvSpPr>
        <p:spPr>
          <a:xfrm>
            <a:off x="4617720" y="3593592"/>
            <a:ext cx="658368" cy="201168"/>
          </a:xfrm>
          <a:prstGeom prst="rect">
            <a:avLst/>
          </a:prstGeom>
          <a:noFill/>
          <a:ln/>
        </p:spPr>
        <p:txBody>
          <a:bodyPr wrap="square" lIns="0" tIns="0" rIns="0" bIns="0" rtlCol="0" anchor="ctr">
            <a:normAutofit/>
          </a:bodyPr>
          <a:lstStyle/>
          <a:p>
            <a:pPr algn="l" indent="0" marL="0">
              <a:buNone/>
            </a:pPr>
            <a:r>
              <a:rPr lang="en-US" sz="850" dirty="0">
                <a:solidFill>
                  <a:srgbClr val="1B2433"/>
                </a:solidFill>
                <a:latin typeface="Aptos" pitchFamily="34" charset="0"/>
                <a:ea typeface="Aptos" pitchFamily="34" charset="-122"/>
                <a:cs typeface="Aptos" pitchFamily="34" charset="-120"/>
              </a:rPr>
              <a:t>Direct</a:t>
            </a:r>
            <a:endParaRPr lang="en-US" sz="850" dirty="0"/>
          </a:p>
        </p:txBody>
      </p:sp>
      <p:sp>
        <p:nvSpPr>
          <p:cNvPr id="49" name="Shape 47"/>
          <p:cNvSpPr/>
          <p:nvPr/>
        </p:nvSpPr>
        <p:spPr>
          <a:xfrm>
            <a:off x="5349240" y="3625596"/>
            <a:ext cx="1435608" cy="146304"/>
          </a:xfrm>
          <a:prstGeom prst="roundRect">
            <a:avLst>
              <a:gd name="adj" fmla="val 31250"/>
            </a:avLst>
          </a:prstGeom>
          <a:solidFill>
            <a:srgbClr val="DCE8FB"/>
          </a:solidFill>
          <a:ln w="10160">
            <a:solidFill>
              <a:srgbClr val="DCE8FB"/>
            </a:solidFill>
            <a:prstDash val="solid"/>
          </a:ln>
        </p:spPr>
      </p:sp>
      <p:sp>
        <p:nvSpPr>
          <p:cNvPr id="50" name="Shape 48"/>
          <p:cNvSpPr/>
          <p:nvPr/>
        </p:nvSpPr>
        <p:spPr>
          <a:xfrm>
            <a:off x="5349240" y="3625596"/>
            <a:ext cx="871414" cy="146304"/>
          </a:xfrm>
          <a:prstGeom prst="roundRect">
            <a:avLst>
              <a:gd name="adj" fmla="val 25000"/>
            </a:avLst>
          </a:prstGeom>
          <a:solidFill>
            <a:srgbClr val="1A73E8"/>
          </a:solidFill>
          <a:ln w="12700">
            <a:solidFill>
              <a:srgbClr val="1A73E8"/>
            </a:solidFill>
            <a:prstDash val="solid"/>
          </a:ln>
        </p:spPr>
      </p:sp>
      <p:sp>
        <p:nvSpPr>
          <p:cNvPr id="51" name="Text 49"/>
          <p:cNvSpPr txBox="1"/>
          <p:nvPr/>
        </p:nvSpPr>
        <p:spPr>
          <a:xfrm>
            <a:off x="6858000" y="3584448"/>
            <a:ext cx="594360" cy="201168"/>
          </a:xfrm>
          <a:prstGeom prst="rect">
            <a:avLst/>
          </a:prstGeom>
          <a:noFill/>
          <a:ln/>
        </p:spPr>
        <p:txBody>
          <a:bodyPr wrap="square" lIns="0" tIns="0" rIns="0" bIns="0" rtlCol="0" anchor="ctr">
            <a:normAutofit/>
          </a:bodyPr>
          <a:lstStyle/>
          <a:p>
            <a:pPr algn="r" indent="0" marL="0">
              <a:buNone/>
            </a:pPr>
            <a:r>
              <a:rPr lang="en-US" sz="850" b="1" dirty="0">
                <a:solidFill>
                  <a:srgbClr val="1B2433"/>
                </a:solidFill>
                <a:latin typeface="Aptos" pitchFamily="34" charset="0"/>
                <a:ea typeface="Aptos" pitchFamily="34" charset="-122"/>
                <a:cs typeface="Aptos" pitchFamily="34" charset="-120"/>
              </a:rPr>
              <a:t>$2.43</a:t>
            </a:r>
            <a:endParaRPr lang="en-US" sz="850" dirty="0"/>
          </a:p>
        </p:txBody>
      </p:sp>
      <p:sp>
        <p:nvSpPr>
          <p:cNvPr id="52" name="Text 50"/>
          <p:cNvSpPr txBox="1"/>
          <p:nvPr/>
        </p:nvSpPr>
        <p:spPr>
          <a:xfrm>
            <a:off x="7982712" y="3593592"/>
            <a:ext cx="1225296" cy="201168"/>
          </a:xfrm>
          <a:prstGeom prst="rect">
            <a:avLst/>
          </a:prstGeom>
          <a:noFill/>
          <a:ln/>
        </p:spPr>
        <p:txBody>
          <a:bodyPr wrap="square" lIns="0" tIns="0" rIns="0" bIns="0" rtlCol="0" anchor="ctr">
            <a:normAutofit/>
          </a:bodyPr>
          <a:lstStyle/>
          <a:p>
            <a:pPr algn="l" indent="0" marL="0">
              <a:buNone/>
            </a:pPr>
            <a:r>
              <a:rPr lang="en-US" sz="850" dirty="0">
                <a:solidFill>
                  <a:srgbClr val="1B2433"/>
                </a:solidFill>
                <a:latin typeface="Aptos" pitchFamily="34" charset="0"/>
                <a:ea typeface="Aptos" pitchFamily="34" charset="-122"/>
                <a:cs typeface="Aptos" pitchFamily="34" charset="-120"/>
              </a:rPr>
              <a:t>Organic Search</a:t>
            </a:r>
            <a:endParaRPr lang="en-US" sz="850" dirty="0"/>
          </a:p>
        </p:txBody>
      </p:sp>
      <p:sp>
        <p:nvSpPr>
          <p:cNvPr id="53" name="Shape 51"/>
          <p:cNvSpPr/>
          <p:nvPr/>
        </p:nvSpPr>
        <p:spPr>
          <a:xfrm>
            <a:off x="9281160" y="3625596"/>
            <a:ext cx="1280160" cy="146304"/>
          </a:xfrm>
          <a:prstGeom prst="roundRect">
            <a:avLst>
              <a:gd name="adj" fmla="val 31250"/>
            </a:avLst>
          </a:prstGeom>
          <a:solidFill>
            <a:srgbClr val="DCE8FB"/>
          </a:solidFill>
          <a:ln w="10160">
            <a:solidFill>
              <a:srgbClr val="DCE8FB"/>
            </a:solidFill>
            <a:prstDash val="solid"/>
          </a:ln>
        </p:spPr>
      </p:sp>
      <p:sp>
        <p:nvSpPr>
          <p:cNvPr id="54" name="Shape 52"/>
          <p:cNvSpPr/>
          <p:nvPr/>
        </p:nvSpPr>
        <p:spPr>
          <a:xfrm>
            <a:off x="9281160" y="3625596"/>
            <a:ext cx="1079495" cy="146304"/>
          </a:xfrm>
          <a:prstGeom prst="roundRect">
            <a:avLst>
              <a:gd name="adj" fmla="val 25000"/>
            </a:avLst>
          </a:prstGeom>
          <a:solidFill>
            <a:srgbClr val="168A84"/>
          </a:solidFill>
          <a:ln w="12700">
            <a:solidFill>
              <a:srgbClr val="168A84"/>
            </a:solidFill>
            <a:prstDash val="solid"/>
          </a:ln>
        </p:spPr>
      </p:sp>
      <p:sp>
        <p:nvSpPr>
          <p:cNvPr id="55" name="Text 53"/>
          <p:cNvSpPr txBox="1"/>
          <p:nvPr/>
        </p:nvSpPr>
        <p:spPr>
          <a:xfrm>
            <a:off x="10634472" y="3584448"/>
            <a:ext cx="594360" cy="201168"/>
          </a:xfrm>
          <a:prstGeom prst="rect">
            <a:avLst/>
          </a:prstGeom>
          <a:noFill/>
          <a:ln/>
        </p:spPr>
        <p:txBody>
          <a:bodyPr wrap="square" lIns="0" tIns="0" rIns="0" bIns="0" rtlCol="0" anchor="ctr">
            <a:normAutofit/>
          </a:bodyPr>
          <a:lstStyle/>
          <a:p>
            <a:pPr algn="r" indent="0" marL="0">
              <a:buNone/>
            </a:pPr>
            <a:r>
              <a:rPr lang="en-US" sz="850" b="1" dirty="0">
                <a:solidFill>
                  <a:srgbClr val="1B2433"/>
                </a:solidFill>
                <a:latin typeface="Aptos" pitchFamily="34" charset="0"/>
                <a:ea typeface="Aptos" pitchFamily="34" charset="-122"/>
                <a:cs typeface="Aptos" pitchFamily="34" charset="-120"/>
              </a:rPr>
              <a:t>$3.37</a:t>
            </a:r>
            <a:endParaRPr lang="en-US" sz="850" dirty="0"/>
          </a:p>
        </p:txBody>
      </p:sp>
      <p:sp>
        <p:nvSpPr>
          <p:cNvPr id="56" name="Shape 54"/>
          <p:cNvSpPr/>
          <p:nvPr/>
        </p:nvSpPr>
        <p:spPr>
          <a:xfrm>
            <a:off x="4389120" y="4206240"/>
            <a:ext cx="7287768" cy="1773936"/>
          </a:xfrm>
          <a:prstGeom prst="roundRect">
            <a:avLst>
              <a:gd name="adj" fmla="val 6186"/>
            </a:avLst>
          </a:prstGeom>
          <a:solidFill>
            <a:srgbClr val="FFFFFF"/>
          </a:solidFill>
          <a:ln w="10160">
            <a:solidFill>
              <a:srgbClr val="E1E5EE"/>
            </a:solidFill>
            <a:prstDash val="solid"/>
          </a:ln>
        </p:spPr>
      </p:sp>
      <p:sp>
        <p:nvSpPr>
          <p:cNvPr id="57" name="Text 55"/>
          <p:cNvSpPr txBox="1"/>
          <p:nvPr/>
        </p:nvSpPr>
        <p:spPr>
          <a:xfrm>
            <a:off x="4553712" y="4334256"/>
            <a:ext cx="6958584" cy="228600"/>
          </a:xfrm>
          <a:prstGeom prst="rect">
            <a:avLst/>
          </a:prstGeom>
          <a:noFill/>
          <a:ln/>
        </p:spPr>
        <p:txBody>
          <a:bodyPr wrap="square" lIns="0" tIns="0" rIns="0" bIns="0" rtlCol="0" anchor="ctr">
            <a:normAutofit/>
          </a:bodyPr>
          <a:lstStyle/>
          <a:p>
            <a:pPr algn="l" indent="0" marL="0">
              <a:buNone/>
            </a:pPr>
            <a:r>
              <a:rPr lang="en-US" sz="1250" b="1" dirty="0">
                <a:solidFill>
                  <a:srgbClr val="14213D"/>
                </a:solidFill>
                <a:latin typeface="Aptos" pitchFamily="34" charset="0"/>
                <a:ea typeface="Aptos" pitchFamily="34" charset="-122"/>
                <a:cs typeface="Aptos" pitchFamily="34" charset="-120"/>
              </a:rPr>
              <a:t>Product performance is not uniform</a:t>
            </a:r>
            <a:endParaRPr lang="en-US" sz="1250" dirty="0"/>
          </a:p>
        </p:txBody>
      </p:sp>
      <p:sp>
        <p:nvSpPr>
          <p:cNvPr id="58" name="Text 56"/>
          <p:cNvSpPr txBox="1"/>
          <p:nvPr/>
        </p:nvSpPr>
        <p:spPr>
          <a:xfrm>
            <a:off x="4553712" y="4590288"/>
            <a:ext cx="6958584" cy="228600"/>
          </a:xfrm>
          <a:prstGeom prst="rect">
            <a:avLst/>
          </a:prstGeom>
          <a:noFill/>
          <a:ln/>
        </p:spPr>
        <p:txBody>
          <a:bodyPr wrap="square" lIns="0" tIns="0" rIns="0" bIns="0" rtlCol="0" anchor="ctr">
            <a:normAutofit/>
          </a:bodyPr>
          <a:lstStyle/>
          <a:p>
            <a:pPr algn="l" indent="0" marL="0">
              <a:buNone/>
            </a:pPr>
            <a:r>
              <a:rPr lang="en-US" sz="850" dirty="0">
                <a:solidFill>
                  <a:srgbClr val="566074"/>
                </a:solidFill>
                <a:latin typeface="Aptos" pitchFamily="34" charset="0"/>
                <a:ea typeface="Aptos" pitchFamily="34" charset="-122"/>
                <a:cs typeface="Aptos" pitchFamily="34" charset="-120"/>
              </a:rPr>
              <a:t>Aggregate item purchase/view ratio — not a unique-visitor conversion rate</a:t>
            </a:r>
            <a:endParaRPr lang="en-US" sz="850" dirty="0"/>
          </a:p>
        </p:txBody>
      </p:sp>
      <p:sp>
        <p:nvSpPr>
          <p:cNvPr id="59" name="Text 57"/>
          <p:cNvSpPr txBox="1"/>
          <p:nvPr/>
        </p:nvSpPr>
        <p:spPr>
          <a:xfrm>
            <a:off x="4626864" y="4828032"/>
            <a:ext cx="1024128" cy="201168"/>
          </a:xfrm>
          <a:prstGeom prst="rect">
            <a:avLst/>
          </a:prstGeom>
          <a:noFill/>
          <a:ln/>
        </p:spPr>
        <p:txBody>
          <a:bodyPr wrap="square" lIns="0" tIns="0" rIns="0" bIns="0" rtlCol="0" anchor="ctr">
            <a:normAutofit/>
          </a:bodyPr>
          <a:lstStyle/>
          <a:p>
            <a:pPr algn="l" indent="0" marL="0">
              <a:buNone/>
            </a:pPr>
            <a:r>
              <a:rPr lang="en-US" sz="850" dirty="0">
                <a:solidFill>
                  <a:srgbClr val="1B2433"/>
                </a:solidFill>
                <a:latin typeface="Aptos" pitchFamily="34" charset="0"/>
                <a:ea typeface="Aptos" pitchFamily="34" charset="-122"/>
                <a:cs typeface="Aptos" pitchFamily="34" charset="-120"/>
              </a:rPr>
              <a:t>Eco Tee Black</a:t>
            </a:r>
            <a:endParaRPr lang="en-US" sz="850" dirty="0"/>
          </a:p>
        </p:txBody>
      </p:sp>
      <p:sp>
        <p:nvSpPr>
          <p:cNvPr id="60" name="Shape 58"/>
          <p:cNvSpPr/>
          <p:nvPr/>
        </p:nvSpPr>
        <p:spPr>
          <a:xfrm>
            <a:off x="5724144" y="4860036"/>
            <a:ext cx="1325880" cy="146304"/>
          </a:xfrm>
          <a:prstGeom prst="roundRect">
            <a:avLst>
              <a:gd name="adj" fmla="val 31250"/>
            </a:avLst>
          </a:prstGeom>
          <a:solidFill>
            <a:srgbClr val="DCE8FB"/>
          </a:solidFill>
          <a:ln w="10160">
            <a:solidFill>
              <a:srgbClr val="DCE8FB"/>
            </a:solidFill>
            <a:prstDash val="solid"/>
          </a:ln>
        </p:spPr>
      </p:sp>
      <p:sp>
        <p:nvSpPr>
          <p:cNvPr id="61" name="Shape 59"/>
          <p:cNvSpPr/>
          <p:nvPr/>
        </p:nvSpPr>
        <p:spPr>
          <a:xfrm>
            <a:off x="5724144" y="4860036"/>
            <a:ext cx="1158908" cy="146304"/>
          </a:xfrm>
          <a:prstGeom prst="roundRect">
            <a:avLst>
              <a:gd name="adj" fmla="val 25000"/>
            </a:avLst>
          </a:prstGeom>
          <a:solidFill>
            <a:srgbClr val="168A84"/>
          </a:solidFill>
          <a:ln w="12700">
            <a:solidFill>
              <a:srgbClr val="168A84"/>
            </a:solidFill>
            <a:prstDash val="solid"/>
          </a:ln>
        </p:spPr>
      </p:sp>
      <p:sp>
        <p:nvSpPr>
          <p:cNvPr id="62" name="Text 60"/>
          <p:cNvSpPr txBox="1"/>
          <p:nvPr/>
        </p:nvSpPr>
        <p:spPr>
          <a:xfrm>
            <a:off x="7123176" y="4818888"/>
            <a:ext cx="658368" cy="201168"/>
          </a:xfrm>
          <a:prstGeom prst="rect">
            <a:avLst/>
          </a:prstGeom>
          <a:noFill/>
          <a:ln/>
        </p:spPr>
        <p:txBody>
          <a:bodyPr wrap="square" lIns="0" tIns="0" rIns="0" bIns="0" rtlCol="0" anchor="ctr">
            <a:normAutofit/>
          </a:bodyPr>
          <a:lstStyle/>
          <a:p>
            <a:pPr algn="r" indent="0" marL="0">
              <a:buNone/>
            </a:pPr>
            <a:r>
              <a:rPr lang="en-US" sz="850" b="1" dirty="0">
                <a:solidFill>
                  <a:srgbClr val="1B2433"/>
                </a:solidFill>
                <a:latin typeface="Aptos" pitchFamily="34" charset="0"/>
                <a:ea typeface="Aptos" pitchFamily="34" charset="-122"/>
                <a:cs typeface="Aptos" pitchFamily="34" charset="-120"/>
              </a:rPr>
              <a:t>26.22%</a:t>
            </a:r>
            <a:endParaRPr lang="en-US" sz="850" dirty="0"/>
          </a:p>
        </p:txBody>
      </p:sp>
      <p:sp>
        <p:nvSpPr>
          <p:cNvPr id="63" name="Text 61"/>
          <p:cNvSpPr txBox="1"/>
          <p:nvPr/>
        </p:nvSpPr>
        <p:spPr>
          <a:xfrm>
            <a:off x="4626864" y="5221224"/>
            <a:ext cx="1115568" cy="201168"/>
          </a:xfrm>
          <a:prstGeom prst="rect">
            <a:avLst/>
          </a:prstGeom>
          <a:noFill/>
          <a:ln/>
        </p:spPr>
        <p:txBody>
          <a:bodyPr wrap="square" lIns="0" tIns="0" rIns="0" bIns="0" rtlCol="0" anchor="ctr">
            <a:normAutofit/>
          </a:bodyPr>
          <a:lstStyle/>
          <a:p>
            <a:pPr algn="l" indent="0" marL="0">
              <a:buNone/>
            </a:pPr>
            <a:r>
              <a:rPr lang="en-US" sz="850" dirty="0">
                <a:solidFill>
                  <a:srgbClr val="1B2433"/>
                </a:solidFill>
                <a:latin typeface="Aptos" pitchFamily="34" charset="0"/>
                <a:ea typeface="Aptos" pitchFamily="34" charset="-122"/>
                <a:cs typeface="Aptos" pitchFamily="34" charset="-120"/>
              </a:rPr>
              <a:t>Recycled Hoodie</a:t>
            </a:r>
            <a:endParaRPr lang="en-US" sz="850" dirty="0"/>
          </a:p>
        </p:txBody>
      </p:sp>
      <p:sp>
        <p:nvSpPr>
          <p:cNvPr id="64" name="Shape 62"/>
          <p:cNvSpPr/>
          <p:nvPr/>
        </p:nvSpPr>
        <p:spPr>
          <a:xfrm>
            <a:off x="5815584" y="5253228"/>
            <a:ext cx="1234440" cy="146304"/>
          </a:xfrm>
          <a:prstGeom prst="roundRect">
            <a:avLst>
              <a:gd name="adj" fmla="val 31250"/>
            </a:avLst>
          </a:prstGeom>
          <a:solidFill>
            <a:srgbClr val="DCE8FB"/>
          </a:solidFill>
          <a:ln w="10160">
            <a:solidFill>
              <a:srgbClr val="DCE8FB"/>
            </a:solidFill>
            <a:prstDash val="solid"/>
          </a:ln>
        </p:spPr>
      </p:sp>
      <p:sp>
        <p:nvSpPr>
          <p:cNvPr id="65" name="Shape 63"/>
          <p:cNvSpPr/>
          <p:nvPr/>
        </p:nvSpPr>
        <p:spPr>
          <a:xfrm>
            <a:off x="5815584" y="5253228"/>
            <a:ext cx="32004" cy="146304"/>
          </a:xfrm>
          <a:prstGeom prst="roundRect">
            <a:avLst>
              <a:gd name="adj" fmla="val 114286"/>
            </a:avLst>
          </a:prstGeom>
          <a:solidFill>
            <a:srgbClr val="A85D00"/>
          </a:solidFill>
          <a:ln w="12700">
            <a:solidFill>
              <a:srgbClr val="A85D00"/>
            </a:solidFill>
            <a:prstDash val="solid"/>
          </a:ln>
        </p:spPr>
      </p:sp>
      <p:sp>
        <p:nvSpPr>
          <p:cNvPr id="66" name="Text 64"/>
          <p:cNvSpPr txBox="1"/>
          <p:nvPr/>
        </p:nvSpPr>
        <p:spPr>
          <a:xfrm>
            <a:off x="7123176" y="5212080"/>
            <a:ext cx="658368" cy="201168"/>
          </a:xfrm>
          <a:prstGeom prst="rect">
            <a:avLst/>
          </a:prstGeom>
          <a:noFill/>
          <a:ln/>
        </p:spPr>
        <p:txBody>
          <a:bodyPr wrap="square" lIns="0" tIns="0" rIns="0" bIns="0" rtlCol="0" anchor="ctr">
            <a:normAutofit/>
          </a:bodyPr>
          <a:lstStyle/>
          <a:p>
            <a:pPr algn="r" indent="0" marL="0">
              <a:buNone/>
            </a:pPr>
            <a:r>
              <a:rPr lang="en-US" sz="850" b="1" dirty="0">
                <a:solidFill>
                  <a:srgbClr val="1B2433"/>
                </a:solidFill>
                <a:latin typeface="Aptos" pitchFamily="34" charset="0"/>
                <a:ea typeface="Aptos" pitchFamily="34" charset="-122"/>
                <a:cs typeface="Aptos" pitchFamily="34" charset="-120"/>
              </a:rPr>
              <a:t>0.47%</a:t>
            </a:r>
            <a:endParaRPr lang="en-US" sz="850" dirty="0"/>
          </a:p>
        </p:txBody>
      </p:sp>
      <p:sp>
        <p:nvSpPr>
          <p:cNvPr id="67" name="Text 65"/>
          <p:cNvSpPr txBox="1"/>
          <p:nvPr/>
        </p:nvSpPr>
        <p:spPr>
          <a:xfrm>
            <a:off x="8156448" y="4846320"/>
            <a:ext cx="3090672" cy="182880"/>
          </a:xfrm>
          <a:prstGeom prst="rect">
            <a:avLst/>
          </a:prstGeom>
          <a:noFill/>
          <a:ln/>
        </p:spPr>
        <p:txBody>
          <a:bodyPr wrap="square" lIns="0" tIns="0" rIns="0" bIns="0" rtlCol="0" anchor="ctr">
            <a:normAutofit/>
          </a:bodyPr>
          <a:lstStyle/>
          <a:p>
            <a:pPr algn="l" indent="0" marL="0">
              <a:buNone/>
            </a:pPr>
            <a:r>
              <a:rPr lang="en-US" sz="810" b="1" dirty="0">
                <a:solidFill>
                  <a:srgbClr val="14213D"/>
                </a:solidFill>
                <a:latin typeface="Aptos" pitchFamily="34" charset="0"/>
                <a:ea typeface="Aptos" pitchFamily="34" charset="-122"/>
                <a:cs typeface="Aptos" pitchFamily="34" charset="-120"/>
              </a:rPr>
              <a:t>Google Eco Tee Black: 488 / 1,861 viewed</a:t>
            </a:r>
            <a:endParaRPr lang="en-US" sz="810" dirty="0"/>
          </a:p>
        </p:txBody>
      </p:sp>
      <p:sp>
        <p:nvSpPr>
          <p:cNvPr id="68" name="Text 66"/>
          <p:cNvSpPr txBox="1"/>
          <p:nvPr/>
        </p:nvSpPr>
        <p:spPr>
          <a:xfrm>
            <a:off x="8156448" y="5230368"/>
            <a:ext cx="3090672" cy="182880"/>
          </a:xfrm>
          <a:prstGeom prst="rect">
            <a:avLst/>
          </a:prstGeom>
          <a:noFill/>
          <a:ln/>
        </p:spPr>
        <p:txBody>
          <a:bodyPr wrap="square" lIns="0" tIns="0" rIns="0" bIns="0" rtlCol="0" anchor="ctr">
            <a:normAutofit/>
          </a:bodyPr>
          <a:lstStyle/>
          <a:p>
            <a:pPr algn="l" indent="0" marL="0">
              <a:buNone/>
            </a:pPr>
            <a:r>
              <a:rPr lang="en-US" sz="790" b="1" dirty="0">
                <a:solidFill>
                  <a:srgbClr val="14213D"/>
                </a:solidFill>
                <a:latin typeface="Aptos" pitchFamily="34" charset="0"/>
                <a:ea typeface="Aptos" pitchFamily="34" charset="-122"/>
                <a:cs typeface="Aptos" pitchFamily="34" charset="-120"/>
              </a:rPr>
              <a:t>Google Recycled Black Hoodie: 12 / 2,566 viewed</a:t>
            </a:r>
            <a:endParaRPr lang="en-US" sz="790" dirty="0"/>
          </a:p>
        </p:txBody>
      </p:sp>
      <p:sp>
        <p:nvSpPr>
          <p:cNvPr id="69" name="Text 67"/>
          <p:cNvSpPr txBox="1"/>
          <p:nvPr/>
        </p:nvSpPr>
        <p:spPr>
          <a:xfrm>
            <a:off x="8156448" y="5532120"/>
            <a:ext cx="3154680" cy="228600"/>
          </a:xfrm>
          <a:prstGeom prst="rect">
            <a:avLst/>
          </a:prstGeom>
          <a:noFill/>
          <a:ln/>
        </p:spPr>
        <p:txBody>
          <a:bodyPr wrap="square" lIns="0" tIns="0" rIns="0" bIns="0" rtlCol="0" anchor="t">
            <a:normAutofit/>
          </a:bodyPr>
          <a:lstStyle/>
          <a:p>
            <a:pPr algn="l" indent="0" marL="0">
              <a:buNone/>
            </a:pPr>
            <a:r>
              <a:rPr lang="en-US" sz="780" dirty="0">
                <a:solidFill>
                  <a:srgbClr val="566074"/>
                </a:solidFill>
                <a:latin typeface="Aptos" pitchFamily="34" charset="0"/>
                <a:ea typeface="Aptos" pitchFamily="34" charset="-122"/>
                <a:cs typeface="Aptos" pitchFamily="34" charset="-120"/>
              </a:rPr>
              <a:t>The reason for the product gap is not established by these data.</a:t>
            </a:r>
            <a:endParaRPr lang="en-US" sz="780" dirty="0"/>
          </a:p>
        </p:txBody>
      </p:sp>
      <p:sp>
        <p:nvSpPr>
          <p:cNvPr id="70" name="Text 68"/>
          <p:cNvSpPr txBox="1"/>
          <p:nvPr/>
        </p:nvSpPr>
        <p:spPr>
          <a:xfrm>
            <a:off x="566928" y="6245352"/>
            <a:ext cx="10744200" cy="146304"/>
          </a:xfrm>
          <a:prstGeom prst="rect">
            <a:avLst/>
          </a:prstGeom>
          <a:noFill/>
          <a:ln/>
        </p:spPr>
        <p:txBody>
          <a:bodyPr wrap="square" lIns="0" tIns="0" rIns="0" bIns="0" rtlCol="0" anchor="ctr">
            <a:normAutofit/>
          </a:bodyPr>
          <a:lstStyle/>
          <a:p>
            <a:pPr algn="l" indent="0" marL="0">
              <a:buNone/>
            </a:pPr>
            <a:r>
              <a:rPr lang="en-US" sz="720" dirty="0">
                <a:solidFill>
                  <a:srgbClr val="566074"/>
                </a:solidFill>
                <a:latin typeface="Aptos" pitchFamily="34" charset="0"/>
                <a:ea typeface="Aptos" pitchFamily="34" charset="-122"/>
                <a:cs typeface="Aptos" pitchFamily="34" charset="-120"/>
              </a:rPr>
              <a:t>Source: supplied GA4 Purchase journey, Traffic acquisition and Ecommerce purchases screenshots. Revenue/session = channel revenue ÷ sessions.</a:t>
            </a:r>
            <a:endParaRPr lang="en-US" sz="72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10896"/>
            <a:ext cx="5029200" cy="164592"/>
          </a:xfrm>
          <a:prstGeom prst="rect">
            <a:avLst/>
          </a:prstGeom>
          <a:noFill/>
          <a:ln/>
        </p:spPr>
        <p:txBody>
          <a:bodyPr wrap="square" lIns="0" tIns="0" rIns="0" bIns="0" rtlCol="0" anchor="ctr">
            <a:normAutofit/>
          </a:bodyPr>
          <a:lstStyle/>
          <a:p>
            <a:pPr algn="l" indent="0" marL="0">
              <a:buNone/>
            </a:pPr>
            <a:r>
              <a:rPr lang="en-US" sz="820" b="1" spc="50" kern="0" dirty="0">
                <a:solidFill>
                  <a:srgbClr val="1A73E8"/>
                </a:solidFill>
                <a:latin typeface="Aptos" pitchFamily="34" charset="0"/>
                <a:ea typeface="Aptos" pitchFamily="34" charset="-122"/>
                <a:cs typeface="Aptos" pitchFamily="34" charset="-120"/>
              </a:rPr>
              <a:t>03 / MEASUREMENT AUDIT</a:t>
            </a:r>
            <a:endParaRPr lang="en-US" sz="820" dirty="0"/>
          </a:p>
        </p:txBody>
      </p:sp>
      <p:sp>
        <p:nvSpPr>
          <p:cNvPr id="3" name="Text 1"/>
          <p:cNvSpPr txBox="1"/>
          <p:nvPr/>
        </p:nvSpPr>
        <p:spPr>
          <a:xfrm>
            <a:off x="566928" y="557784"/>
            <a:ext cx="10972800" cy="411480"/>
          </a:xfrm>
          <a:prstGeom prst="rect">
            <a:avLst/>
          </a:prstGeom>
          <a:noFill/>
          <a:ln/>
        </p:spPr>
        <p:txBody>
          <a:bodyPr wrap="square" lIns="0" tIns="0" rIns="0" bIns="0" rtlCol="0" anchor="ctr">
            <a:normAutofit/>
          </a:bodyPr>
          <a:lstStyle/>
          <a:p>
            <a:pPr algn="l" indent="0" marL="0">
              <a:buNone/>
            </a:pPr>
            <a:r>
              <a:rPr lang="en-US" sz="2400" b="1" dirty="0">
                <a:solidFill>
                  <a:srgbClr val="14213D"/>
                </a:solidFill>
                <a:latin typeface="Aptos Display" pitchFamily="34" charset="0"/>
                <a:ea typeface="Aptos Display" pitchFamily="34" charset="-122"/>
                <a:cs typeface="Aptos Display" pitchFamily="34" charset="-120"/>
              </a:rPr>
              <a:t>Separate what is observed from what is still missing</a:t>
            </a:r>
            <a:endParaRPr lang="en-US" sz="2400" dirty="0"/>
          </a:p>
        </p:txBody>
      </p:sp>
      <p:sp>
        <p:nvSpPr>
          <p:cNvPr id="4" name="Text 2"/>
          <p:cNvSpPr txBox="1"/>
          <p:nvPr/>
        </p:nvSpPr>
        <p:spPr>
          <a:xfrm>
            <a:off x="585216" y="1005840"/>
            <a:ext cx="10972800" cy="274320"/>
          </a:xfrm>
          <a:prstGeom prst="rect">
            <a:avLst/>
          </a:prstGeom>
          <a:noFill/>
          <a:ln/>
        </p:spPr>
        <p:txBody>
          <a:bodyPr wrap="square" lIns="0" tIns="0" rIns="0" bIns="0" rtlCol="0" anchor="ctr">
            <a:normAutofit/>
          </a:bodyPr>
          <a:lstStyle/>
          <a:p>
            <a:pPr algn="l" indent="0" marL="0">
              <a:buNone/>
            </a:pPr>
            <a:r>
              <a:rPr lang="en-US" sz="1050" dirty="0">
                <a:solidFill>
                  <a:srgbClr val="566074"/>
                </a:solidFill>
                <a:latin typeface="Aptos" pitchFamily="34" charset="0"/>
                <a:ea typeface="Aptos" pitchFamily="34" charset="-122"/>
                <a:cs typeface="Aptos" pitchFamily="34" charset="-120"/>
              </a:rPr>
              <a:t>A decision-ready dashboard connects each metric to the decision it supports—and to the data required</a:t>
            </a:r>
            <a:endParaRPr lang="en-US" sz="1050" dirty="0"/>
          </a:p>
        </p:txBody>
      </p:sp>
      <p:sp>
        <p:nvSpPr>
          <p:cNvPr id="5" name="Shape 3"/>
          <p:cNvSpPr/>
          <p:nvPr/>
        </p:nvSpPr>
        <p:spPr>
          <a:xfrm>
            <a:off x="512064" y="1435608"/>
            <a:ext cx="3538728" cy="3337560"/>
          </a:xfrm>
          <a:prstGeom prst="roundRect">
            <a:avLst>
              <a:gd name="adj" fmla="val 3288"/>
            </a:avLst>
          </a:prstGeom>
          <a:solidFill>
            <a:srgbClr val="FFFFFF"/>
          </a:solidFill>
          <a:ln w="10160">
            <a:solidFill>
              <a:srgbClr val="E1E5EE"/>
            </a:solidFill>
            <a:prstDash val="solid"/>
          </a:ln>
        </p:spPr>
      </p:sp>
      <p:sp>
        <p:nvSpPr>
          <p:cNvPr id="6" name="Shape 4"/>
          <p:cNvSpPr/>
          <p:nvPr/>
        </p:nvSpPr>
        <p:spPr>
          <a:xfrm>
            <a:off x="676656" y="1581912"/>
            <a:ext cx="859536" cy="256032"/>
          </a:xfrm>
          <a:prstGeom prst="roundRect">
            <a:avLst>
              <a:gd name="adj" fmla="val 42857"/>
            </a:avLst>
          </a:prstGeom>
          <a:solidFill>
            <a:srgbClr val="DCE8FB"/>
          </a:solidFill>
          <a:ln w="7620">
            <a:solidFill>
              <a:srgbClr val="DCE8FB"/>
            </a:solidFill>
            <a:prstDash val="solid"/>
          </a:ln>
        </p:spPr>
      </p:sp>
      <p:sp>
        <p:nvSpPr>
          <p:cNvPr id="7" name="Text 5"/>
          <p:cNvSpPr txBox="1"/>
          <p:nvPr/>
        </p:nvSpPr>
        <p:spPr>
          <a:xfrm>
            <a:off x="722376" y="1586484"/>
            <a:ext cx="768096" cy="237744"/>
          </a:xfrm>
          <a:prstGeom prst="rect">
            <a:avLst/>
          </a:prstGeom>
          <a:noFill/>
          <a:ln/>
        </p:spPr>
        <p:txBody>
          <a:bodyPr wrap="square" lIns="0" tIns="0" rIns="0" bIns="0" rtlCol="0" anchor="ctr">
            <a:normAutofit/>
          </a:bodyPr>
          <a:lstStyle/>
          <a:p>
            <a:pPr algn="ctr" indent="0" marL="0">
              <a:buNone/>
            </a:pPr>
            <a:r>
              <a:rPr lang="en-US" sz="850" b="1" dirty="0">
                <a:solidFill>
                  <a:srgbClr val="1A73E8"/>
                </a:solidFill>
                <a:latin typeface="Aptos" pitchFamily="34" charset="0"/>
                <a:ea typeface="Aptos" pitchFamily="34" charset="-122"/>
                <a:cs typeface="Aptos" pitchFamily="34" charset="-120"/>
              </a:rPr>
              <a:t>OBSERVED</a:t>
            </a:r>
            <a:endParaRPr lang="en-US" sz="850" dirty="0"/>
          </a:p>
        </p:txBody>
      </p:sp>
      <p:sp>
        <p:nvSpPr>
          <p:cNvPr id="8" name="Text 6"/>
          <p:cNvSpPr txBox="1"/>
          <p:nvPr/>
        </p:nvSpPr>
        <p:spPr>
          <a:xfrm>
            <a:off x="676656" y="1938528"/>
            <a:ext cx="3209544" cy="256032"/>
          </a:xfrm>
          <a:prstGeom prst="rect">
            <a:avLst/>
          </a:prstGeom>
          <a:noFill/>
          <a:ln/>
        </p:spPr>
        <p:txBody>
          <a:bodyPr wrap="square" lIns="0" tIns="0" rIns="0" bIns="0" rtlCol="0" anchor="ctr">
            <a:normAutofit/>
          </a:bodyPr>
          <a:lstStyle/>
          <a:p>
            <a:pPr algn="l" indent="0" marL="0">
              <a:buNone/>
            </a:pPr>
            <a:r>
              <a:rPr lang="en-US" sz="1300" b="1" dirty="0">
                <a:solidFill>
                  <a:srgbClr val="14213D"/>
                </a:solidFill>
                <a:latin typeface="Aptos" pitchFamily="34" charset="0"/>
                <a:ea typeface="Aptos" pitchFamily="34" charset="-122"/>
                <a:cs typeface="Aptos" pitchFamily="34" charset="-120"/>
              </a:rPr>
              <a:t>Available in GA4 reports</a:t>
            </a:r>
            <a:endParaRPr lang="en-US" sz="1300" dirty="0"/>
          </a:p>
        </p:txBody>
      </p:sp>
      <p:sp>
        <p:nvSpPr>
          <p:cNvPr id="9" name="Text 7"/>
          <p:cNvSpPr txBox="1"/>
          <p:nvPr/>
        </p:nvSpPr>
        <p:spPr>
          <a:xfrm>
            <a:off x="676656" y="2322576"/>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Sessions &amp; engagement</a:t>
            </a:r>
            <a:endParaRPr lang="en-US" sz="920" dirty="0"/>
          </a:p>
        </p:txBody>
      </p:sp>
      <p:sp>
        <p:nvSpPr>
          <p:cNvPr id="10" name="Text 8"/>
          <p:cNvSpPr txBox="1"/>
          <p:nvPr/>
        </p:nvSpPr>
        <p:spPr>
          <a:xfrm>
            <a:off x="676656" y="2496312"/>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131,106 sessions; 43.77% engagement</a:t>
            </a:r>
            <a:endParaRPr lang="en-US" sz="790" dirty="0"/>
          </a:p>
        </p:txBody>
      </p:sp>
      <p:sp>
        <p:nvSpPr>
          <p:cNvPr id="11" name="Text 9"/>
          <p:cNvSpPr txBox="1"/>
          <p:nvPr/>
        </p:nvSpPr>
        <p:spPr>
          <a:xfrm>
            <a:off x="676656" y="2770632"/>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Funnel stage counts</a:t>
            </a:r>
            <a:endParaRPr lang="en-US" sz="920" dirty="0"/>
          </a:p>
        </p:txBody>
      </p:sp>
      <p:sp>
        <p:nvSpPr>
          <p:cNvPr id="12" name="Text 10"/>
          <p:cNvSpPr txBox="1"/>
          <p:nvPr/>
        </p:nvSpPr>
        <p:spPr>
          <a:xfrm>
            <a:off x="676656" y="2944368"/>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Users at each configured step</a:t>
            </a:r>
            <a:endParaRPr lang="en-US" sz="790" dirty="0"/>
          </a:p>
        </p:txBody>
      </p:sp>
      <p:sp>
        <p:nvSpPr>
          <p:cNvPr id="13" name="Text 11"/>
          <p:cNvSpPr txBox="1"/>
          <p:nvPr/>
        </p:nvSpPr>
        <p:spPr>
          <a:xfrm>
            <a:off x="676656" y="3218688"/>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Key events</a:t>
            </a:r>
            <a:endParaRPr lang="en-US" sz="920" dirty="0"/>
          </a:p>
        </p:txBody>
      </p:sp>
      <p:sp>
        <p:nvSpPr>
          <p:cNvPr id="14" name="Text 12"/>
          <p:cNvSpPr txBox="1"/>
          <p:nvPr/>
        </p:nvSpPr>
        <p:spPr>
          <a:xfrm>
            <a:off x="676656" y="3392424"/>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165,411 events; 24.88% session key-event rate</a:t>
            </a:r>
            <a:endParaRPr lang="en-US" sz="790" dirty="0"/>
          </a:p>
        </p:txBody>
      </p:sp>
      <p:sp>
        <p:nvSpPr>
          <p:cNvPr id="15" name="Text 13"/>
          <p:cNvSpPr txBox="1"/>
          <p:nvPr/>
        </p:nvSpPr>
        <p:spPr>
          <a:xfrm>
            <a:off x="676656" y="3666744"/>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Product activity</a:t>
            </a:r>
            <a:endParaRPr lang="en-US" sz="920" dirty="0"/>
          </a:p>
        </p:txBody>
      </p:sp>
      <p:sp>
        <p:nvSpPr>
          <p:cNvPr id="16" name="Text 14"/>
          <p:cNvSpPr txBox="1"/>
          <p:nvPr/>
        </p:nvSpPr>
        <p:spPr>
          <a:xfrm>
            <a:off x="676656" y="3840480"/>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Item views, cart additions, purchases, item revenue</a:t>
            </a:r>
            <a:endParaRPr lang="en-US" sz="790" dirty="0"/>
          </a:p>
        </p:txBody>
      </p:sp>
      <p:sp>
        <p:nvSpPr>
          <p:cNvPr id="17" name="Text 15"/>
          <p:cNvSpPr txBox="1"/>
          <p:nvPr/>
        </p:nvSpPr>
        <p:spPr>
          <a:xfrm>
            <a:off x="676656" y="4114800"/>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Channel revenue</a:t>
            </a:r>
            <a:endParaRPr lang="en-US" sz="920" dirty="0"/>
          </a:p>
        </p:txBody>
      </p:sp>
      <p:sp>
        <p:nvSpPr>
          <p:cNvPr id="18" name="Text 16"/>
          <p:cNvSpPr txBox="1"/>
          <p:nvPr/>
        </p:nvSpPr>
        <p:spPr>
          <a:xfrm>
            <a:off x="676656" y="4288536"/>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Revenue by channel; total revenue $364,401.86</a:t>
            </a:r>
            <a:endParaRPr lang="en-US" sz="790" dirty="0"/>
          </a:p>
        </p:txBody>
      </p:sp>
      <p:sp>
        <p:nvSpPr>
          <p:cNvPr id="19" name="Shape 17"/>
          <p:cNvSpPr/>
          <p:nvPr/>
        </p:nvSpPr>
        <p:spPr>
          <a:xfrm>
            <a:off x="4325112" y="1435608"/>
            <a:ext cx="3538728" cy="3337560"/>
          </a:xfrm>
          <a:prstGeom prst="roundRect">
            <a:avLst>
              <a:gd name="adj" fmla="val 3288"/>
            </a:avLst>
          </a:prstGeom>
          <a:solidFill>
            <a:srgbClr val="FFFFFF"/>
          </a:solidFill>
          <a:ln w="10160">
            <a:solidFill>
              <a:srgbClr val="E1E5EE"/>
            </a:solidFill>
            <a:prstDash val="solid"/>
          </a:ln>
        </p:spPr>
      </p:sp>
      <p:sp>
        <p:nvSpPr>
          <p:cNvPr id="20" name="Shape 18"/>
          <p:cNvSpPr/>
          <p:nvPr/>
        </p:nvSpPr>
        <p:spPr>
          <a:xfrm>
            <a:off x="4489704" y="1581912"/>
            <a:ext cx="960120" cy="256032"/>
          </a:xfrm>
          <a:prstGeom prst="roundRect">
            <a:avLst>
              <a:gd name="adj" fmla="val 42857"/>
            </a:avLst>
          </a:prstGeom>
          <a:solidFill>
            <a:srgbClr val="E8F5EC"/>
          </a:solidFill>
          <a:ln w="7620">
            <a:solidFill>
              <a:srgbClr val="E8F5EC"/>
            </a:solidFill>
            <a:prstDash val="solid"/>
          </a:ln>
        </p:spPr>
      </p:sp>
      <p:sp>
        <p:nvSpPr>
          <p:cNvPr id="21" name="Text 19"/>
          <p:cNvSpPr txBox="1"/>
          <p:nvPr/>
        </p:nvSpPr>
        <p:spPr>
          <a:xfrm>
            <a:off x="4535424" y="1586484"/>
            <a:ext cx="868680" cy="237744"/>
          </a:xfrm>
          <a:prstGeom prst="rect">
            <a:avLst/>
          </a:prstGeom>
          <a:noFill/>
          <a:ln/>
        </p:spPr>
        <p:txBody>
          <a:bodyPr wrap="square" lIns="0" tIns="0" rIns="0" bIns="0" rtlCol="0" anchor="ctr">
            <a:normAutofit/>
          </a:bodyPr>
          <a:lstStyle/>
          <a:p>
            <a:pPr algn="ctr" indent="0" marL="0">
              <a:buNone/>
            </a:pPr>
            <a:r>
              <a:rPr lang="en-US" sz="850" b="1" dirty="0">
                <a:solidFill>
                  <a:srgbClr val="188038"/>
                </a:solidFill>
                <a:latin typeface="Aptos" pitchFamily="34" charset="0"/>
                <a:ea typeface="Aptos" pitchFamily="34" charset="-122"/>
                <a:cs typeface="Aptos" pitchFamily="34" charset="-120"/>
              </a:rPr>
              <a:t>CALCULATED</a:t>
            </a:r>
            <a:endParaRPr lang="en-US" sz="850" dirty="0"/>
          </a:p>
        </p:txBody>
      </p:sp>
      <p:sp>
        <p:nvSpPr>
          <p:cNvPr id="22" name="Text 20"/>
          <p:cNvSpPr txBox="1"/>
          <p:nvPr/>
        </p:nvSpPr>
        <p:spPr>
          <a:xfrm>
            <a:off x="4489704" y="1938528"/>
            <a:ext cx="3209544" cy="256032"/>
          </a:xfrm>
          <a:prstGeom prst="rect">
            <a:avLst/>
          </a:prstGeom>
          <a:noFill/>
          <a:ln/>
        </p:spPr>
        <p:txBody>
          <a:bodyPr wrap="square" lIns="0" tIns="0" rIns="0" bIns="0" rtlCol="0" anchor="ctr">
            <a:normAutofit/>
          </a:bodyPr>
          <a:lstStyle/>
          <a:p>
            <a:pPr algn="l" indent="0" marL="0">
              <a:buNone/>
            </a:pPr>
            <a:r>
              <a:rPr lang="en-US" sz="1300" b="1" dirty="0">
                <a:solidFill>
                  <a:srgbClr val="14213D"/>
                </a:solidFill>
                <a:latin typeface="Aptos" pitchFamily="34" charset="0"/>
                <a:ea typeface="Aptos" pitchFamily="34" charset="-122"/>
                <a:cs typeface="Aptos" pitchFamily="34" charset="-120"/>
              </a:rPr>
              <a:t>Derived from observed data</a:t>
            </a:r>
            <a:endParaRPr lang="en-US" sz="1300" dirty="0"/>
          </a:p>
        </p:txBody>
      </p:sp>
      <p:sp>
        <p:nvSpPr>
          <p:cNvPr id="23" name="Text 21"/>
          <p:cNvSpPr txBox="1"/>
          <p:nvPr/>
        </p:nvSpPr>
        <p:spPr>
          <a:xfrm>
            <a:off x="4489704" y="2322576"/>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Stage progression / drop-off</a:t>
            </a:r>
            <a:endParaRPr lang="en-US" sz="920" dirty="0"/>
          </a:p>
        </p:txBody>
      </p:sp>
      <p:sp>
        <p:nvSpPr>
          <p:cNvPr id="24" name="Text 22"/>
          <p:cNvSpPr txBox="1"/>
          <p:nvPr/>
        </p:nvSpPr>
        <p:spPr>
          <a:xfrm>
            <a:off x="4489704" y="2496312"/>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Example: checkout → purchase = 52.47% progress</a:t>
            </a:r>
            <a:endParaRPr lang="en-US" sz="790" dirty="0"/>
          </a:p>
        </p:txBody>
      </p:sp>
      <p:sp>
        <p:nvSpPr>
          <p:cNvPr id="25" name="Text 23"/>
          <p:cNvSpPr txBox="1"/>
          <p:nvPr/>
        </p:nvSpPr>
        <p:spPr>
          <a:xfrm>
            <a:off x="4489704" y="2770632"/>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Revenue per session</a:t>
            </a:r>
            <a:endParaRPr lang="en-US" sz="920" dirty="0"/>
          </a:p>
        </p:txBody>
      </p:sp>
      <p:sp>
        <p:nvSpPr>
          <p:cNvPr id="26" name="Text 24"/>
          <p:cNvSpPr txBox="1"/>
          <p:nvPr/>
        </p:nvSpPr>
        <p:spPr>
          <a:xfrm>
            <a:off x="4489704" y="2944368"/>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Direct $2.43 vs Organic Search $3.37</a:t>
            </a:r>
            <a:endParaRPr lang="en-US" sz="790" dirty="0"/>
          </a:p>
        </p:txBody>
      </p:sp>
      <p:sp>
        <p:nvSpPr>
          <p:cNvPr id="27" name="Text 25"/>
          <p:cNvSpPr txBox="1"/>
          <p:nvPr/>
        </p:nvSpPr>
        <p:spPr>
          <a:xfrm>
            <a:off x="4489704" y="3218688"/>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Device funnel completion</a:t>
            </a:r>
            <a:endParaRPr lang="en-US" sz="920" dirty="0"/>
          </a:p>
        </p:txBody>
      </p:sp>
      <p:sp>
        <p:nvSpPr>
          <p:cNvPr id="28" name="Text 26"/>
          <p:cNvSpPr txBox="1"/>
          <p:nvPr/>
        </p:nvSpPr>
        <p:spPr>
          <a:xfrm>
            <a:off x="4489704" y="3392424"/>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Desktop 5.17%; mobile 0.25%</a:t>
            </a:r>
            <a:endParaRPr lang="en-US" sz="790" dirty="0"/>
          </a:p>
        </p:txBody>
      </p:sp>
      <p:sp>
        <p:nvSpPr>
          <p:cNvPr id="29" name="Text 27"/>
          <p:cNvSpPr txBox="1"/>
          <p:nvPr/>
        </p:nvSpPr>
        <p:spPr>
          <a:xfrm>
            <a:off x="4489704" y="3666744"/>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Item purchase/view ratio</a:t>
            </a:r>
            <a:endParaRPr lang="en-US" sz="920" dirty="0"/>
          </a:p>
        </p:txBody>
      </p:sp>
      <p:sp>
        <p:nvSpPr>
          <p:cNvPr id="30" name="Text 28"/>
          <p:cNvSpPr txBox="1"/>
          <p:nvPr/>
        </p:nvSpPr>
        <p:spPr>
          <a:xfrm>
            <a:off x="4489704" y="3840480"/>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Eco Tee 26.22%; Hoodie 0.47%</a:t>
            </a:r>
            <a:endParaRPr lang="en-US" sz="790" dirty="0"/>
          </a:p>
        </p:txBody>
      </p:sp>
      <p:sp>
        <p:nvSpPr>
          <p:cNvPr id="31" name="Text 29"/>
          <p:cNvSpPr txBox="1"/>
          <p:nvPr/>
        </p:nvSpPr>
        <p:spPr>
          <a:xfrm>
            <a:off x="4489704" y="4114800"/>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Use with care</a:t>
            </a:r>
            <a:endParaRPr lang="en-US" sz="920" dirty="0"/>
          </a:p>
        </p:txBody>
      </p:sp>
      <p:sp>
        <p:nvSpPr>
          <p:cNvPr id="32" name="Text 30"/>
          <p:cNvSpPr txBox="1"/>
          <p:nvPr/>
        </p:nvSpPr>
        <p:spPr>
          <a:xfrm>
            <a:off x="4489704" y="4288536"/>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Descriptive rates; denominators must be explicit</a:t>
            </a:r>
            <a:endParaRPr lang="en-US" sz="790" dirty="0"/>
          </a:p>
        </p:txBody>
      </p:sp>
      <p:sp>
        <p:nvSpPr>
          <p:cNvPr id="33" name="Shape 31"/>
          <p:cNvSpPr/>
          <p:nvPr/>
        </p:nvSpPr>
        <p:spPr>
          <a:xfrm>
            <a:off x="8138160" y="1435608"/>
            <a:ext cx="3538728" cy="3337560"/>
          </a:xfrm>
          <a:prstGeom prst="roundRect">
            <a:avLst>
              <a:gd name="adj" fmla="val 3288"/>
            </a:avLst>
          </a:prstGeom>
          <a:solidFill>
            <a:srgbClr val="FFFFFF"/>
          </a:solidFill>
          <a:ln w="10160">
            <a:solidFill>
              <a:srgbClr val="E1E5EE"/>
            </a:solidFill>
            <a:prstDash val="solid"/>
          </a:ln>
        </p:spPr>
      </p:sp>
      <p:sp>
        <p:nvSpPr>
          <p:cNvPr id="34" name="Shape 32"/>
          <p:cNvSpPr/>
          <p:nvPr/>
        </p:nvSpPr>
        <p:spPr>
          <a:xfrm>
            <a:off x="8302752" y="1581912"/>
            <a:ext cx="1124712" cy="256032"/>
          </a:xfrm>
          <a:prstGeom prst="roundRect">
            <a:avLst>
              <a:gd name="adj" fmla="val 42857"/>
            </a:avLst>
          </a:prstGeom>
          <a:solidFill>
            <a:srgbClr val="FFF2D8"/>
          </a:solidFill>
          <a:ln w="7620">
            <a:solidFill>
              <a:srgbClr val="FFF2D8"/>
            </a:solidFill>
            <a:prstDash val="solid"/>
          </a:ln>
        </p:spPr>
      </p:sp>
      <p:sp>
        <p:nvSpPr>
          <p:cNvPr id="35" name="Text 33"/>
          <p:cNvSpPr txBox="1"/>
          <p:nvPr/>
        </p:nvSpPr>
        <p:spPr>
          <a:xfrm>
            <a:off x="8348472" y="1586484"/>
            <a:ext cx="1033272" cy="237744"/>
          </a:xfrm>
          <a:prstGeom prst="rect">
            <a:avLst/>
          </a:prstGeom>
          <a:noFill/>
          <a:ln/>
        </p:spPr>
        <p:txBody>
          <a:bodyPr wrap="square" lIns="0" tIns="0" rIns="0" bIns="0" rtlCol="0" anchor="ctr">
            <a:normAutofit/>
          </a:bodyPr>
          <a:lstStyle/>
          <a:p>
            <a:pPr algn="ctr" indent="0" marL="0">
              <a:buNone/>
            </a:pPr>
            <a:r>
              <a:rPr lang="en-US" sz="850" b="1" dirty="0">
                <a:solidFill>
                  <a:srgbClr val="A85D00"/>
                </a:solidFill>
                <a:latin typeface="Aptos" pitchFamily="34" charset="0"/>
                <a:ea typeface="Aptos" pitchFamily="34" charset="-122"/>
                <a:cs typeface="Aptos" pitchFamily="34" charset="-120"/>
              </a:rPr>
              <a:t>PROPOSED KPIs</a:t>
            </a:r>
            <a:endParaRPr lang="en-US" sz="850" dirty="0"/>
          </a:p>
        </p:txBody>
      </p:sp>
      <p:sp>
        <p:nvSpPr>
          <p:cNvPr id="36" name="Text 34"/>
          <p:cNvSpPr txBox="1"/>
          <p:nvPr/>
        </p:nvSpPr>
        <p:spPr>
          <a:xfrm>
            <a:off x="8302752" y="1938528"/>
            <a:ext cx="3209544" cy="256032"/>
          </a:xfrm>
          <a:prstGeom prst="rect">
            <a:avLst/>
          </a:prstGeom>
          <a:noFill/>
          <a:ln/>
        </p:spPr>
        <p:txBody>
          <a:bodyPr wrap="square" lIns="0" tIns="0" rIns="0" bIns="0" rtlCol="0" anchor="ctr">
            <a:normAutofit/>
          </a:bodyPr>
          <a:lstStyle/>
          <a:p>
            <a:pPr algn="l" indent="0" marL="0">
              <a:buNone/>
            </a:pPr>
            <a:r>
              <a:rPr lang="en-US" sz="1300" b="1" dirty="0">
                <a:solidFill>
                  <a:srgbClr val="14213D"/>
                </a:solidFill>
                <a:latin typeface="Aptos" pitchFamily="34" charset="0"/>
                <a:ea typeface="Aptos" pitchFamily="34" charset="-122"/>
                <a:cs typeface="Aptos" pitchFamily="34" charset="-120"/>
              </a:rPr>
              <a:t>Business measures to add</a:t>
            </a:r>
            <a:endParaRPr lang="en-US" sz="1300" dirty="0"/>
          </a:p>
        </p:txBody>
      </p:sp>
      <p:sp>
        <p:nvSpPr>
          <p:cNvPr id="37" name="Text 35"/>
          <p:cNvSpPr txBox="1"/>
          <p:nvPr/>
        </p:nvSpPr>
        <p:spPr>
          <a:xfrm>
            <a:off x="8302752" y="2322576"/>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Session purchase conversion</a:t>
            </a:r>
            <a:endParaRPr lang="en-US" sz="920" dirty="0"/>
          </a:p>
        </p:txBody>
      </p:sp>
      <p:sp>
        <p:nvSpPr>
          <p:cNvPr id="38" name="Text 36"/>
          <p:cNvSpPr txBox="1"/>
          <p:nvPr/>
        </p:nvSpPr>
        <p:spPr>
          <a:xfrm>
            <a:off x="8302752" y="2496312"/>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Needs confirmed purchase event + session denominator</a:t>
            </a:r>
            <a:endParaRPr lang="en-US" sz="790" dirty="0"/>
          </a:p>
        </p:txBody>
      </p:sp>
      <p:sp>
        <p:nvSpPr>
          <p:cNvPr id="39" name="Text 37"/>
          <p:cNvSpPr txBox="1"/>
          <p:nvPr/>
        </p:nvSpPr>
        <p:spPr>
          <a:xfrm>
            <a:off x="8302752" y="2770632"/>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Repeat-purchase rate</a:t>
            </a:r>
            <a:endParaRPr lang="en-US" sz="920" dirty="0"/>
          </a:p>
        </p:txBody>
      </p:sp>
      <p:sp>
        <p:nvSpPr>
          <p:cNvPr id="40" name="Text 38"/>
          <p:cNvSpPr txBox="1"/>
          <p:nvPr/>
        </p:nvSpPr>
        <p:spPr>
          <a:xfrm>
            <a:off x="8302752" y="2944368"/>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Requires customer-level order history</a:t>
            </a:r>
            <a:endParaRPr lang="en-US" sz="790" dirty="0"/>
          </a:p>
        </p:txBody>
      </p:sp>
      <p:sp>
        <p:nvSpPr>
          <p:cNvPr id="41" name="Text 39"/>
          <p:cNvSpPr txBox="1"/>
          <p:nvPr/>
        </p:nvSpPr>
        <p:spPr>
          <a:xfrm>
            <a:off x="8302752" y="3218688"/>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Refund / return rate</a:t>
            </a:r>
            <a:endParaRPr lang="en-US" sz="920" dirty="0"/>
          </a:p>
        </p:txBody>
      </p:sp>
      <p:sp>
        <p:nvSpPr>
          <p:cNvPr id="42" name="Text 40"/>
          <p:cNvSpPr txBox="1"/>
          <p:nvPr/>
        </p:nvSpPr>
        <p:spPr>
          <a:xfrm>
            <a:off x="8302752" y="3392424"/>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Requires refund/return or order-system data</a:t>
            </a:r>
            <a:endParaRPr lang="en-US" sz="790" dirty="0"/>
          </a:p>
        </p:txBody>
      </p:sp>
      <p:sp>
        <p:nvSpPr>
          <p:cNvPr id="43" name="Text 41"/>
          <p:cNvSpPr txBox="1"/>
          <p:nvPr/>
        </p:nvSpPr>
        <p:spPr>
          <a:xfrm>
            <a:off x="8302752" y="3666744"/>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Contribution margin / ROAS</a:t>
            </a:r>
            <a:endParaRPr lang="en-US" sz="920" dirty="0"/>
          </a:p>
        </p:txBody>
      </p:sp>
      <p:sp>
        <p:nvSpPr>
          <p:cNvPr id="44" name="Text 42"/>
          <p:cNvSpPr txBox="1"/>
          <p:nvPr/>
        </p:nvSpPr>
        <p:spPr>
          <a:xfrm>
            <a:off x="8302752" y="3840480"/>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Requires variable costs and ad spend</a:t>
            </a:r>
            <a:endParaRPr lang="en-US" sz="790" dirty="0"/>
          </a:p>
        </p:txBody>
      </p:sp>
      <p:sp>
        <p:nvSpPr>
          <p:cNvPr id="45" name="Text 43"/>
          <p:cNvSpPr txBox="1"/>
          <p:nvPr/>
        </p:nvSpPr>
        <p:spPr>
          <a:xfrm>
            <a:off x="8302752" y="4114800"/>
            <a:ext cx="3209544" cy="164592"/>
          </a:xfrm>
          <a:prstGeom prst="rect">
            <a:avLst/>
          </a:prstGeom>
          <a:noFill/>
          <a:ln/>
        </p:spPr>
        <p:txBody>
          <a:bodyPr wrap="square" lIns="0" tIns="0" rIns="0" bIns="0" rtlCol="0" anchor="ctr">
            <a:normAutofit/>
          </a:bodyPr>
          <a:lstStyle/>
          <a:p>
            <a:pPr algn="l" indent="0" marL="0">
              <a:buNone/>
            </a:pPr>
            <a:r>
              <a:rPr lang="en-US" sz="920" b="1" dirty="0">
                <a:solidFill>
                  <a:srgbClr val="1B2433"/>
                </a:solidFill>
                <a:latin typeface="Aptos" pitchFamily="34" charset="0"/>
                <a:ea typeface="Aptos" pitchFamily="34" charset="-122"/>
                <a:cs typeface="Aptos" pitchFamily="34" charset="-120"/>
              </a:rPr>
              <a:t>Why it matters</a:t>
            </a:r>
            <a:endParaRPr lang="en-US" sz="920" dirty="0"/>
          </a:p>
        </p:txBody>
      </p:sp>
      <p:sp>
        <p:nvSpPr>
          <p:cNvPr id="46" name="Text 44"/>
          <p:cNvSpPr txBox="1"/>
          <p:nvPr/>
        </p:nvSpPr>
        <p:spPr>
          <a:xfrm>
            <a:off x="8302752" y="4288536"/>
            <a:ext cx="3209544" cy="201168"/>
          </a:xfrm>
          <a:prstGeom prst="rect">
            <a:avLst/>
          </a:prstGeom>
          <a:noFill/>
          <a:ln/>
        </p:spPr>
        <p:txBody>
          <a:bodyPr wrap="square" lIns="0" tIns="0" rIns="0" bIns="0" rtlCol="0" anchor="t">
            <a:normAutofit/>
          </a:bodyPr>
          <a:lstStyle/>
          <a:p>
            <a:pPr algn="l" indent="0" marL="0">
              <a:buNone/>
            </a:pPr>
            <a:r>
              <a:rPr lang="en-US" sz="790" dirty="0">
                <a:solidFill>
                  <a:srgbClr val="566074"/>
                </a:solidFill>
                <a:latin typeface="Aptos" pitchFamily="34" charset="0"/>
                <a:ea typeface="Aptos" pitchFamily="34" charset="-122"/>
                <a:cs typeface="Aptos" pitchFamily="34" charset="-120"/>
              </a:rPr>
              <a:t>Connects conversion, retention and revenue quality</a:t>
            </a:r>
            <a:endParaRPr lang="en-US" sz="790" dirty="0"/>
          </a:p>
        </p:txBody>
      </p:sp>
      <p:sp>
        <p:nvSpPr>
          <p:cNvPr id="47" name="Shape 45"/>
          <p:cNvSpPr/>
          <p:nvPr/>
        </p:nvSpPr>
        <p:spPr>
          <a:xfrm>
            <a:off x="512064" y="4937760"/>
            <a:ext cx="11164824" cy="1097280"/>
          </a:xfrm>
          <a:prstGeom prst="roundRect">
            <a:avLst>
              <a:gd name="adj" fmla="val 10000"/>
            </a:avLst>
          </a:prstGeom>
          <a:solidFill>
            <a:srgbClr val="14213D"/>
          </a:solidFill>
          <a:ln w="10160">
            <a:solidFill>
              <a:srgbClr val="14213D"/>
            </a:solidFill>
            <a:prstDash val="solid"/>
          </a:ln>
        </p:spPr>
      </p:sp>
      <p:sp>
        <p:nvSpPr>
          <p:cNvPr id="48" name="Text 46"/>
          <p:cNvSpPr txBox="1"/>
          <p:nvPr/>
        </p:nvSpPr>
        <p:spPr>
          <a:xfrm>
            <a:off x="731520" y="5084064"/>
            <a:ext cx="3749040" cy="173736"/>
          </a:xfrm>
          <a:prstGeom prst="rect">
            <a:avLst/>
          </a:prstGeom>
          <a:noFill/>
          <a:ln/>
        </p:spPr>
        <p:txBody>
          <a:bodyPr wrap="square" lIns="0" tIns="0" rIns="0" bIns="0" rtlCol="0" anchor="ctr">
            <a:normAutofit/>
          </a:bodyPr>
          <a:lstStyle/>
          <a:p>
            <a:pPr algn="l" indent="0" marL="0">
              <a:buNone/>
            </a:pPr>
            <a:r>
              <a:rPr lang="en-US" sz="820" b="1" spc="80" kern="0" dirty="0">
                <a:solidFill>
                  <a:srgbClr val="9FC5FF"/>
                </a:solidFill>
                <a:latin typeface="Aptos" pitchFamily="34" charset="0"/>
                <a:ea typeface="Aptos" pitchFamily="34" charset="-122"/>
                <a:cs typeface="Aptos" pitchFamily="34" charset="-120"/>
              </a:rPr>
              <a:t>PROPOSED KRIs  /  EARLY-WARNING SIGNALS</a:t>
            </a:r>
            <a:endParaRPr lang="en-US" sz="820" dirty="0"/>
          </a:p>
        </p:txBody>
      </p:sp>
      <p:sp>
        <p:nvSpPr>
          <p:cNvPr id="49" name="Text 47"/>
          <p:cNvSpPr txBox="1"/>
          <p:nvPr/>
        </p:nvSpPr>
        <p:spPr>
          <a:xfrm>
            <a:off x="749808" y="5367528"/>
            <a:ext cx="3246120" cy="182880"/>
          </a:xfrm>
          <a:prstGeom prst="rect">
            <a:avLst/>
          </a:prstGeom>
          <a:noFill/>
          <a:ln/>
        </p:spPr>
        <p:txBody>
          <a:bodyPr wrap="square" lIns="0" tIns="0" rIns="0" bIns="0" rtlCol="0" anchor="ctr">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Mobile–desktop completion gap</a:t>
            </a:r>
            <a:endParaRPr lang="en-US" sz="940" dirty="0"/>
          </a:p>
        </p:txBody>
      </p:sp>
      <p:sp>
        <p:nvSpPr>
          <p:cNvPr id="50" name="Text 48"/>
          <p:cNvSpPr txBox="1"/>
          <p:nvPr/>
        </p:nvSpPr>
        <p:spPr>
          <a:xfrm>
            <a:off x="749808" y="5596128"/>
            <a:ext cx="3218688" cy="283464"/>
          </a:xfrm>
          <a:prstGeom prst="rect">
            <a:avLst/>
          </a:prstGeom>
          <a:noFill/>
          <a:ln/>
        </p:spPr>
        <p:txBody>
          <a:bodyPr wrap="square" lIns="0" tIns="0" rIns="0" bIns="0" rtlCol="0" anchor="t">
            <a:normAutofit/>
          </a:bodyPr>
          <a:lstStyle/>
          <a:p>
            <a:pPr algn="l" indent="0" marL="0">
              <a:buNone/>
            </a:pPr>
            <a:r>
              <a:rPr lang="en-US" sz="800" dirty="0">
                <a:solidFill>
                  <a:srgbClr val="D5DEED"/>
                </a:solidFill>
                <a:latin typeface="Aptos" pitchFamily="34" charset="0"/>
                <a:ea typeface="Aptos" pitchFamily="34" charset="-122"/>
                <a:cs typeface="Aptos" pitchFamily="34" charset="-120"/>
              </a:rPr>
              <a:t>Observed ≈20.5×; threshold needs validation.</a:t>
            </a:r>
            <a:endParaRPr lang="en-US" sz="800" dirty="0"/>
          </a:p>
        </p:txBody>
      </p:sp>
      <p:sp>
        <p:nvSpPr>
          <p:cNvPr id="51" name="Shape 49"/>
          <p:cNvSpPr/>
          <p:nvPr/>
        </p:nvSpPr>
        <p:spPr>
          <a:xfrm>
            <a:off x="4206240" y="5349240"/>
            <a:ext cx="0" cy="493776"/>
          </a:xfrm>
          <a:prstGeom prst="line">
            <a:avLst/>
          </a:prstGeom>
          <a:noFill/>
          <a:ln w="10160">
            <a:solidFill>
              <a:srgbClr val="41506D"/>
            </a:solidFill>
            <a:prstDash val="solid"/>
          </a:ln>
        </p:spPr>
      </p:sp>
      <p:sp>
        <p:nvSpPr>
          <p:cNvPr id="52" name="Text 50"/>
          <p:cNvSpPr txBox="1"/>
          <p:nvPr/>
        </p:nvSpPr>
        <p:spPr>
          <a:xfrm>
            <a:off x="4407408" y="5367528"/>
            <a:ext cx="3246120" cy="182880"/>
          </a:xfrm>
          <a:prstGeom prst="rect">
            <a:avLst/>
          </a:prstGeom>
          <a:noFill/>
          <a:ln/>
        </p:spPr>
        <p:txBody>
          <a:bodyPr wrap="square" lIns="0" tIns="0" rIns="0" bIns="0" rtlCol="0" anchor="ctr">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Checkout abandonment</a:t>
            </a:r>
            <a:endParaRPr lang="en-US" sz="940" dirty="0"/>
          </a:p>
        </p:txBody>
      </p:sp>
      <p:sp>
        <p:nvSpPr>
          <p:cNvPr id="53" name="Text 51"/>
          <p:cNvSpPr txBox="1"/>
          <p:nvPr/>
        </p:nvSpPr>
        <p:spPr>
          <a:xfrm>
            <a:off x="4407408" y="5596128"/>
            <a:ext cx="3218688" cy="283464"/>
          </a:xfrm>
          <a:prstGeom prst="rect">
            <a:avLst/>
          </a:prstGeom>
          <a:noFill/>
          <a:ln/>
        </p:spPr>
        <p:txBody>
          <a:bodyPr wrap="square" lIns="0" tIns="0" rIns="0" bIns="0" rtlCol="0" anchor="t">
            <a:normAutofit/>
          </a:bodyPr>
          <a:lstStyle/>
          <a:p>
            <a:pPr algn="l" indent="0" marL="0">
              <a:buNone/>
            </a:pPr>
            <a:r>
              <a:rPr lang="en-US" sz="800" dirty="0">
                <a:solidFill>
                  <a:srgbClr val="D5DEED"/>
                </a:solidFill>
                <a:latin typeface="Aptos" pitchFamily="34" charset="0"/>
                <a:ea typeface="Aptos" pitchFamily="34" charset="-122"/>
                <a:cs typeface="Aptos" pitchFamily="34" charset="-120"/>
              </a:rPr>
              <a:t>47.53% in this period; trend data needed for spike alerts.</a:t>
            </a:r>
            <a:endParaRPr lang="en-US" sz="800" dirty="0"/>
          </a:p>
        </p:txBody>
      </p:sp>
      <p:sp>
        <p:nvSpPr>
          <p:cNvPr id="54" name="Shape 52"/>
          <p:cNvSpPr/>
          <p:nvPr/>
        </p:nvSpPr>
        <p:spPr>
          <a:xfrm>
            <a:off x="7863840" y="5349240"/>
            <a:ext cx="0" cy="493776"/>
          </a:xfrm>
          <a:prstGeom prst="line">
            <a:avLst/>
          </a:prstGeom>
          <a:noFill/>
          <a:ln w="10160">
            <a:solidFill>
              <a:srgbClr val="41506D"/>
            </a:solidFill>
            <a:prstDash val="solid"/>
          </a:ln>
        </p:spPr>
      </p:sp>
      <p:sp>
        <p:nvSpPr>
          <p:cNvPr id="55" name="Text 53"/>
          <p:cNvSpPr txBox="1"/>
          <p:nvPr/>
        </p:nvSpPr>
        <p:spPr>
          <a:xfrm>
            <a:off x="8065008" y="5367528"/>
            <a:ext cx="3246120" cy="182880"/>
          </a:xfrm>
          <a:prstGeom prst="rect">
            <a:avLst/>
          </a:prstGeom>
          <a:noFill/>
          <a:ln/>
        </p:spPr>
        <p:txBody>
          <a:bodyPr wrap="square" lIns="0" tIns="0" rIns="0" bIns="0" rtlCol="0" anchor="ctr">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Tracking / channel quality</a:t>
            </a:r>
            <a:endParaRPr lang="en-US" sz="940" dirty="0"/>
          </a:p>
        </p:txBody>
      </p:sp>
      <p:sp>
        <p:nvSpPr>
          <p:cNvPr id="56" name="Text 54"/>
          <p:cNvSpPr txBox="1"/>
          <p:nvPr/>
        </p:nvSpPr>
        <p:spPr>
          <a:xfrm>
            <a:off x="8065008" y="5596128"/>
            <a:ext cx="3218688" cy="283464"/>
          </a:xfrm>
          <a:prstGeom prst="rect">
            <a:avLst/>
          </a:prstGeom>
          <a:noFill/>
          <a:ln/>
        </p:spPr>
        <p:txBody>
          <a:bodyPr wrap="square" lIns="0" tIns="0" rIns="0" bIns="0" rtlCol="0" anchor="t">
            <a:normAutofit/>
          </a:bodyPr>
          <a:lstStyle/>
          <a:p>
            <a:pPr algn="l" indent="0" marL="0">
              <a:buNone/>
            </a:pPr>
            <a:r>
              <a:rPr lang="en-US" sz="800" dirty="0">
                <a:solidFill>
                  <a:srgbClr val="D5DEED"/>
                </a:solidFill>
                <a:latin typeface="Aptos" pitchFamily="34" charset="0"/>
                <a:ea typeface="Aptos" pitchFamily="34" charset="-122"/>
                <a:cs typeface="Aptos" pitchFamily="34" charset="-120"/>
              </a:rPr>
              <a:t>Unassigned: 7,064 sessions, 11.66% engagement; verify tags.</a:t>
            </a:r>
            <a:endParaRPr lang="en-US" sz="800" dirty="0"/>
          </a:p>
        </p:txBody>
      </p:sp>
      <p:sp>
        <p:nvSpPr>
          <p:cNvPr id="57" name="Text 55"/>
          <p:cNvSpPr txBox="1"/>
          <p:nvPr/>
        </p:nvSpPr>
        <p:spPr>
          <a:xfrm>
            <a:off x="566928" y="6245352"/>
            <a:ext cx="10744200" cy="146304"/>
          </a:xfrm>
          <a:prstGeom prst="rect">
            <a:avLst/>
          </a:prstGeom>
          <a:noFill/>
          <a:ln/>
        </p:spPr>
        <p:txBody>
          <a:bodyPr wrap="square" lIns="0" tIns="0" rIns="0" bIns="0" rtlCol="0" anchor="ctr">
            <a:normAutofit/>
          </a:bodyPr>
          <a:lstStyle/>
          <a:p>
            <a:pPr algn="l" indent="0" marL="0">
              <a:buNone/>
            </a:pPr>
            <a:r>
              <a:rPr lang="en-US" sz="720" dirty="0">
                <a:solidFill>
                  <a:srgbClr val="566074"/>
                </a:solidFill>
                <a:latin typeface="Aptos" pitchFamily="34" charset="0"/>
                <a:ea typeface="Aptos" pitchFamily="34" charset="-122"/>
                <a:cs typeface="Aptos" pitchFamily="34" charset="-120"/>
              </a:rPr>
              <a:t>KRI thresholds need validation. Item revenue ($335,592.57) differs from total revenue ($364,401.86); channel rows sum to 130,998 vs report total 131,106, so verify report scope.</a:t>
            </a:r>
            <a:endParaRPr lang="en-US" sz="72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10896"/>
            <a:ext cx="5029200" cy="164592"/>
          </a:xfrm>
          <a:prstGeom prst="rect">
            <a:avLst/>
          </a:prstGeom>
          <a:noFill/>
          <a:ln/>
        </p:spPr>
        <p:txBody>
          <a:bodyPr wrap="square" lIns="0" tIns="0" rIns="0" bIns="0" rtlCol="0" anchor="ctr">
            <a:normAutofit/>
          </a:bodyPr>
          <a:lstStyle/>
          <a:p>
            <a:pPr algn="l" indent="0" marL="0">
              <a:buNone/>
            </a:pPr>
            <a:r>
              <a:rPr lang="en-US" sz="820" b="1" spc="50" kern="0" dirty="0">
                <a:solidFill>
                  <a:srgbClr val="1A73E8"/>
                </a:solidFill>
                <a:latin typeface="Aptos" pitchFamily="34" charset="0"/>
                <a:ea typeface="Aptos" pitchFamily="34" charset="-122"/>
                <a:cs typeface="Aptos" pitchFamily="34" charset="-120"/>
              </a:rPr>
              <a:t>04 / DECISION PLAN</a:t>
            </a:r>
            <a:endParaRPr lang="en-US" sz="820" dirty="0"/>
          </a:p>
        </p:txBody>
      </p:sp>
      <p:sp>
        <p:nvSpPr>
          <p:cNvPr id="3" name="Text 1"/>
          <p:cNvSpPr txBox="1"/>
          <p:nvPr/>
        </p:nvSpPr>
        <p:spPr>
          <a:xfrm>
            <a:off x="566928" y="557784"/>
            <a:ext cx="10972800" cy="411480"/>
          </a:xfrm>
          <a:prstGeom prst="rect">
            <a:avLst/>
          </a:prstGeom>
          <a:noFill/>
          <a:ln/>
        </p:spPr>
        <p:txBody>
          <a:bodyPr wrap="square" lIns="0" tIns="0" rIns="0" bIns="0" rtlCol="0" anchor="ctr">
            <a:normAutofit/>
          </a:bodyPr>
          <a:lstStyle/>
          <a:p>
            <a:pPr algn="l" indent="0" marL="0">
              <a:buNone/>
            </a:pPr>
            <a:r>
              <a:rPr lang="en-US" sz="2400" b="1" dirty="0">
                <a:solidFill>
                  <a:srgbClr val="14213D"/>
                </a:solidFill>
                <a:latin typeface="Aptos Display" pitchFamily="34" charset="0"/>
                <a:ea typeface="Aptos Display" pitchFamily="34" charset="-122"/>
                <a:cs typeface="Aptos Display" pitchFamily="34" charset="-120"/>
              </a:rPr>
              <a:t>Investigate first. Then optimize.</a:t>
            </a:r>
            <a:endParaRPr lang="en-US" sz="2400" dirty="0"/>
          </a:p>
        </p:txBody>
      </p:sp>
      <p:sp>
        <p:nvSpPr>
          <p:cNvPr id="4" name="Text 2"/>
          <p:cNvSpPr txBox="1"/>
          <p:nvPr/>
        </p:nvSpPr>
        <p:spPr>
          <a:xfrm>
            <a:off x="585216" y="1005840"/>
            <a:ext cx="10972800" cy="274320"/>
          </a:xfrm>
          <a:prstGeom prst="rect">
            <a:avLst/>
          </a:prstGeom>
          <a:noFill/>
          <a:ln/>
        </p:spPr>
        <p:txBody>
          <a:bodyPr wrap="square" lIns="0" tIns="0" rIns="0" bIns="0" rtlCol="0" anchor="ctr">
            <a:normAutofit/>
          </a:bodyPr>
          <a:lstStyle/>
          <a:p>
            <a:pPr algn="l" indent="0" marL="0">
              <a:buNone/>
            </a:pPr>
            <a:r>
              <a:rPr lang="en-US" sz="1050" dirty="0">
                <a:solidFill>
                  <a:srgbClr val="566074"/>
                </a:solidFill>
                <a:latin typeface="Aptos" pitchFamily="34" charset="0"/>
                <a:ea typeface="Aptos" pitchFamily="34" charset="-122"/>
                <a:cs typeface="Aptos" pitchFamily="34" charset="-120"/>
              </a:rPr>
              <a:t>Prioritized actions translate the audit into decisions while protecting against unsupported conclusions</a:t>
            </a:r>
            <a:endParaRPr lang="en-US" sz="1050" dirty="0"/>
          </a:p>
        </p:txBody>
      </p:sp>
      <p:sp>
        <p:nvSpPr>
          <p:cNvPr id="5" name="Shape 3"/>
          <p:cNvSpPr/>
          <p:nvPr/>
        </p:nvSpPr>
        <p:spPr>
          <a:xfrm>
            <a:off x="530352" y="1481328"/>
            <a:ext cx="7452360" cy="1188720"/>
          </a:xfrm>
          <a:prstGeom prst="roundRect">
            <a:avLst>
              <a:gd name="adj" fmla="val 9231"/>
            </a:avLst>
          </a:prstGeom>
          <a:solidFill>
            <a:srgbClr val="FFFFFF"/>
          </a:solidFill>
          <a:ln w="10160">
            <a:solidFill>
              <a:srgbClr val="E1E5EE"/>
            </a:solidFill>
            <a:prstDash val="solid"/>
          </a:ln>
        </p:spPr>
      </p:sp>
      <p:sp>
        <p:nvSpPr>
          <p:cNvPr id="6" name="Shape 4"/>
          <p:cNvSpPr/>
          <p:nvPr/>
        </p:nvSpPr>
        <p:spPr>
          <a:xfrm>
            <a:off x="694944" y="1664208"/>
            <a:ext cx="420624" cy="420624"/>
          </a:xfrm>
          <a:prstGeom prst="ellipse">
            <a:avLst/>
          </a:prstGeom>
          <a:solidFill>
            <a:srgbClr val="FCE8E6"/>
          </a:solidFill>
          <a:ln w="12700">
            <a:solidFill>
              <a:srgbClr val="FCE8E6"/>
            </a:solidFill>
            <a:prstDash val="solid"/>
          </a:ln>
        </p:spPr>
      </p:sp>
      <p:sp>
        <p:nvSpPr>
          <p:cNvPr id="7" name="Text 5"/>
          <p:cNvSpPr txBox="1"/>
          <p:nvPr/>
        </p:nvSpPr>
        <p:spPr>
          <a:xfrm>
            <a:off x="694944" y="1664208"/>
            <a:ext cx="420624" cy="420624"/>
          </a:xfrm>
          <a:prstGeom prst="rect">
            <a:avLst/>
          </a:prstGeom>
          <a:noFill/>
          <a:ln/>
        </p:spPr>
        <p:txBody>
          <a:bodyPr wrap="square" lIns="0" tIns="0" rIns="0" bIns="0" rtlCol="0" anchor="ctr">
            <a:normAutofit/>
          </a:bodyPr>
          <a:lstStyle/>
          <a:p>
            <a:pPr algn="ctr" indent="0" marL="0">
              <a:buNone/>
            </a:pPr>
            <a:r>
              <a:rPr lang="en-US" sz="1100" b="1" dirty="0">
                <a:solidFill>
                  <a:srgbClr val="C5221F"/>
                </a:solidFill>
                <a:latin typeface="Aptos" pitchFamily="34" charset="0"/>
                <a:ea typeface="Aptos" pitchFamily="34" charset="-122"/>
                <a:cs typeface="Aptos" pitchFamily="34" charset="-120"/>
              </a:rPr>
              <a:t>01</a:t>
            </a:r>
            <a:endParaRPr lang="en-US" sz="1100" dirty="0"/>
          </a:p>
        </p:txBody>
      </p:sp>
      <p:sp>
        <p:nvSpPr>
          <p:cNvPr id="8" name="Text 6"/>
          <p:cNvSpPr txBox="1"/>
          <p:nvPr/>
        </p:nvSpPr>
        <p:spPr>
          <a:xfrm>
            <a:off x="1234440" y="1609344"/>
            <a:ext cx="2286000" cy="164592"/>
          </a:xfrm>
          <a:prstGeom prst="rect">
            <a:avLst/>
          </a:prstGeom>
          <a:noFill/>
          <a:ln/>
        </p:spPr>
        <p:txBody>
          <a:bodyPr wrap="square" lIns="0" tIns="0" rIns="0" bIns="0" rtlCol="0" anchor="ctr">
            <a:normAutofit/>
          </a:bodyPr>
          <a:lstStyle/>
          <a:p>
            <a:pPr algn="l" indent="0" marL="0">
              <a:buNone/>
            </a:pPr>
            <a:r>
              <a:rPr lang="en-US" sz="770" b="1" spc="40" kern="0" dirty="0">
                <a:solidFill>
                  <a:srgbClr val="C5221F"/>
                </a:solidFill>
                <a:latin typeface="Aptos" pitchFamily="34" charset="0"/>
                <a:ea typeface="Aptos" pitchFamily="34" charset="-122"/>
                <a:cs typeface="Aptos" pitchFamily="34" charset="-120"/>
              </a:rPr>
              <a:t>NOW  /  VALIDATE</a:t>
            </a:r>
            <a:endParaRPr lang="en-US" sz="770" dirty="0"/>
          </a:p>
        </p:txBody>
      </p:sp>
      <p:sp>
        <p:nvSpPr>
          <p:cNvPr id="9" name="Text 7"/>
          <p:cNvSpPr txBox="1"/>
          <p:nvPr/>
        </p:nvSpPr>
        <p:spPr>
          <a:xfrm>
            <a:off x="1234440" y="1801368"/>
            <a:ext cx="6355080" cy="210312"/>
          </a:xfrm>
          <a:prstGeom prst="rect">
            <a:avLst/>
          </a:prstGeom>
          <a:noFill/>
          <a:ln/>
        </p:spPr>
        <p:txBody>
          <a:bodyPr wrap="square" lIns="0" tIns="0" rIns="0" bIns="0" rtlCol="0" anchor="ctr">
            <a:normAutofit/>
          </a:bodyPr>
          <a:lstStyle/>
          <a:p>
            <a:pPr algn="l" indent="0" marL="0">
              <a:buNone/>
            </a:pPr>
            <a:r>
              <a:rPr lang="en-US" sz="1240" b="1" dirty="0">
                <a:solidFill>
                  <a:srgbClr val="14213D"/>
                </a:solidFill>
                <a:latin typeface="Aptos" pitchFamily="34" charset="0"/>
                <a:ea typeface="Aptos" pitchFamily="34" charset="-122"/>
                <a:cs typeface="Aptos" pitchFamily="34" charset="-120"/>
              </a:rPr>
              <a:t>Diagnose the mobile journey</a:t>
            </a:r>
            <a:endParaRPr lang="en-US" sz="1240" dirty="0"/>
          </a:p>
        </p:txBody>
      </p:sp>
      <p:sp>
        <p:nvSpPr>
          <p:cNvPr id="10" name="Text 8"/>
          <p:cNvSpPr txBox="1"/>
          <p:nvPr/>
        </p:nvSpPr>
        <p:spPr>
          <a:xfrm>
            <a:off x="1234440" y="2057400"/>
            <a:ext cx="6382512" cy="237744"/>
          </a:xfrm>
          <a:prstGeom prst="rect">
            <a:avLst/>
          </a:prstGeom>
          <a:noFill/>
          <a:ln/>
        </p:spPr>
        <p:txBody>
          <a:bodyPr wrap="square" lIns="0" tIns="0" rIns="0" bIns="0" rtlCol="0" anchor="t">
            <a:normAutofit/>
          </a:bodyPr>
          <a:lstStyle/>
          <a:p>
            <a:pPr algn="l" indent="0" marL="0">
              <a:buNone/>
            </a:pPr>
            <a:r>
              <a:rPr lang="en-US" sz="860" dirty="0">
                <a:solidFill>
                  <a:srgbClr val="1B2433"/>
                </a:solidFill>
                <a:latin typeface="Aptos" pitchFamily="34" charset="0"/>
                <a:ea typeface="Aptos" pitchFamily="34" charset="-122"/>
                <a:cs typeface="Aptos" pitchFamily="34" charset="-120"/>
              </a:rPr>
              <a:t>Compare mobile and desktop traffic-source mix; test the full mobile path; verify event firing and purchase tracking.</a:t>
            </a:r>
            <a:endParaRPr lang="en-US" sz="860" dirty="0"/>
          </a:p>
        </p:txBody>
      </p:sp>
      <p:sp>
        <p:nvSpPr>
          <p:cNvPr id="11" name="Text 9"/>
          <p:cNvSpPr txBox="1"/>
          <p:nvPr/>
        </p:nvSpPr>
        <p:spPr>
          <a:xfrm>
            <a:off x="1234440" y="2313432"/>
            <a:ext cx="6382512" cy="155448"/>
          </a:xfrm>
          <a:prstGeom prst="rect">
            <a:avLst/>
          </a:prstGeom>
          <a:noFill/>
          <a:ln/>
        </p:spPr>
        <p:txBody>
          <a:bodyPr wrap="square" lIns="0" tIns="0" rIns="0" bIns="0" rtlCol="0" anchor="ctr">
            <a:normAutofit/>
          </a:bodyPr>
          <a:lstStyle/>
          <a:p>
            <a:pPr algn="l" indent="0" marL="0">
              <a:buNone/>
            </a:pPr>
            <a:r>
              <a:rPr lang="en-US" sz="770" b="1" dirty="0">
                <a:solidFill>
                  <a:srgbClr val="566074"/>
                </a:solidFill>
                <a:latin typeface="Aptos" pitchFamily="34" charset="0"/>
                <a:ea typeface="Aptos" pitchFamily="34" charset="-122"/>
                <a:cs typeface="Aptos" pitchFamily="34" charset="-120"/>
              </a:rPr>
              <a:t>Track next: device-specific funnel progression + confirmed session-based purchase conversion.</a:t>
            </a:r>
            <a:endParaRPr lang="en-US" sz="770" dirty="0"/>
          </a:p>
        </p:txBody>
      </p:sp>
      <p:sp>
        <p:nvSpPr>
          <p:cNvPr id="12" name="Shape 10"/>
          <p:cNvSpPr/>
          <p:nvPr/>
        </p:nvSpPr>
        <p:spPr>
          <a:xfrm>
            <a:off x="530352" y="2834640"/>
            <a:ext cx="7452360" cy="1188720"/>
          </a:xfrm>
          <a:prstGeom prst="roundRect">
            <a:avLst>
              <a:gd name="adj" fmla="val 9231"/>
            </a:avLst>
          </a:prstGeom>
          <a:solidFill>
            <a:srgbClr val="FFFFFF"/>
          </a:solidFill>
          <a:ln w="10160">
            <a:solidFill>
              <a:srgbClr val="E1E5EE"/>
            </a:solidFill>
            <a:prstDash val="solid"/>
          </a:ln>
        </p:spPr>
      </p:sp>
      <p:sp>
        <p:nvSpPr>
          <p:cNvPr id="13" name="Shape 11"/>
          <p:cNvSpPr/>
          <p:nvPr/>
        </p:nvSpPr>
        <p:spPr>
          <a:xfrm>
            <a:off x="694944" y="3017520"/>
            <a:ext cx="420624" cy="420624"/>
          </a:xfrm>
          <a:prstGeom prst="ellipse">
            <a:avLst/>
          </a:prstGeom>
          <a:solidFill>
            <a:srgbClr val="DCE8FB"/>
          </a:solidFill>
          <a:ln w="12700">
            <a:solidFill>
              <a:srgbClr val="DCE8FB"/>
            </a:solidFill>
            <a:prstDash val="solid"/>
          </a:ln>
        </p:spPr>
      </p:sp>
      <p:sp>
        <p:nvSpPr>
          <p:cNvPr id="14" name="Text 12"/>
          <p:cNvSpPr txBox="1"/>
          <p:nvPr/>
        </p:nvSpPr>
        <p:spPr>
          <a:xfrm>
            <a:off x="694944" y="3017520"/>
            <a:ext cx="420624" cy="420624"/>
          </a:xfrm>
          <a:prstGeom prst="rect">
            <a:avLst/>
          </a:prstGeom>
          <a:noFill/>
          <a:ln/>
        </p:spPr>
        <p:txBody>
          <a:bodyPr wrap="square" lIns="0" tIns="0" rIns="0" bIns="0" rtlCol="0" anchor="ctr">
            <a:normAutofit/>
          </a:bodyPr>
          <a:lstStyle/>
          <a:p>
            <a:pPr algn="ctr" indent="0" marL="0">
              <a:buNone/>
            </a:pPr>
            <a:r>
              <a:rPr lang="en-US" sz="1100" b="1" dirty="0">
                <a:solidFill>
                  <a:srgbClr val="1A73E8"/>
                </a:solidFill>
                <a:latin typeface="Aptos" pitchFamily="34" charset="0"/>
                <a:ea typeface="Aptos" pitchFamily="34" charset="-122"/>
                <a:cs typeface="Aptos" pitchFamily="34" charset="-120"/>
              </a:rPr>
              <a:t>02</a:t>
            </a:r>
            <a:endParaRPr lang="en-US" sz="1100" dirty="0"/>
          </a:p>
        </p:txBody>
      </p:sp>
      <p:sp>
        <p:nvSpPr>
          <p:cNvPr id="15" name="Text 13"/>
          <p:cNvSpPr txBox="1"/>
          <p:nvPr/>
        </p:nvSpPr>
        <p:spPr>
          <a:xfrm>
            <a:off x="1234440" y="2962656"/>
            <a:ext cx="2286000" cy="164592"/>
          </a:xfrm>
          <a:prstGeom prst="rect">
            <a:avLst/>
          </a:prstGeom>
          <a:noFill/>
          <a:ln/>
        </p:spPr>
        <p:txBody>
          <a:bodyPr wrap="square" lIns="0" tIns="0" rIns="0" bIns="0" rtlCol="0" anchor="ctr">
            <a:normAutofit/>
          </a:bodyPr>
          <a:lstStyle/>
          <a:p>
            <a:pPr algn="l" indent="0" marL="0">
              <a:buNone/>
            </a:pPr>
            <a:r>
              <a:rPr lang="en-US" sz="770" b="1" spc="40" kern="0" dirty="0">
                <a:solidFill>
                  <a:srgbClr val="1A73E8"/>
                </a:solidFill>
                <a:latin typeface="Aptos" pitchFamily="34" charset="0"/>
                <a:ea typeface="Aptos" pitchFamily="34" charset="-122"/>
                <a:cs typeface="Aptos" pitchFamily="34" charset="-120"/>
              </a:rPr>
              <a:t>NEXT  /  CLEAN MEASUREMENT</a:t>
            </a:r>
            <a:endParaRPr lang="en-US" sz="770" dirty="0"/>
          </a:p>
        </p:txBody>
      </p:sp>
      <p:sp>
        <p:nvSpPr>
          <p:cNvPr id="16" name="Text 14"/>
          <p:cNvSpPr txBox="1"/>
          <p:nvPr/>
        </p:nvSpPr>
        <p:spPr>
          <a:xfrm>
            <a:off x="1234440" y="3154680"/>
            <a:ext cx="6355080" cy="210312"/>
          </a:xfrm>
          <a:prstGeom prst="rect">
            <a:avLst/>
          </a:prstGeom>
          <a:noFill/>
          <a:ln/>
        </p:spPr>
        <p:txBody>
          <a:bodyPr wrap="square" lIns="0" tIns="0" rIns="0" bIns="0" rtlCol="0" anchor="ctr">
            <a:normAutofit/>
          </a:bodyPr>
          <a:lstStyle/>
          <a:p>
            <a:pPr algn="l" indent="0" marL="0">
              <a:buNone/>
            </a:pPr>
            <a:r>
              <a:rPr lang="en-US" sz="1240" b="1" dirty="0">
                <a:solidFill>
                  <a:srgbClr val="14213D"/>
                </a:solidFill>
                <a:latin typeface="Aptos" pitchFamily="34" charset="0"/>
                <a:ea typeface="Aptos" pitchFamily="34" charset="-122"/>
                <a:cs typeface="Aptos" pitchFamily="34" charset="-120"/>
              </a:rPr>
              <a:t>Improve channel attribution</a:t>
            </a:r>
            <a:endParaRPr lang="en-US" sz="1240" dirty="0"/>
          </a:p>
        </p:txBody>
      </p:sp>
      <p:sp>
        <p:nvSpPr>
          <p:cNvPr id="17" name="Text 15"/>
          <p:cNvSpPr txBox="1"/>
          <p:nvPr/>
        </p:nvSpPr>
        <p:spPr>
          <a:xfrm>
            <a:off x="1234440" y="3410712"/>
            <a:ext cx="6382512" cy="237744"/>
          </a:xfrm>
          <a:prstGeom prst="rect">
            <a:avLst/>
          </a:prstGeom>
          <a:noFill/>
          <a:ln/>
        </p:spPr>
        <p:txBody>
          <a:bodyPr wrap="square" lIns="0" tIns="0" rIns="0" bIns="0" rtlCol="0" anchor="t">
            <a:normAutofit/>
          </a:bodyPr>
          <a:lstStyle/>
          <a:p>
            <a:pPr algn="l" indent="0" marL="0">
              <a:buNone/>
            </a:pPr>
            <a:r>
              <a:rPr lang="en-US" sz="860" dirty="0">
                <a:solidFill>
                  <a:srgbClr val="1B2433"/>
                </a:solidFill>
                <a:latin typeface="Aptos" pitchFamily="34" charset="0"/>
                <a:ea typeface="Aptos" pitchFamily="34" charset="-122"/>
                <a:cs typeface="Aptos" pitchFamily="34" charset="-120"/>
              </a:rPr>
              <a:t>Review campaign tagging and the Unassigned channel (7,064 sessions; 11.66% engagement). Confirm which events are marked as key events.</a:t>
            </a:r>
            <a:endParaRPr lang="en-US" sz="860" dirty="0"/>
          </a:p>
        </p:txBody>
      </p:sp>
      <p:sp>
        <p:nvSpPr>
          <p:cNvPr id="18" name="Text 16"/>
          <p:cNvSpPr txBox="1"/>
          <p:nvPr/>
        </p:nvSpPr>
        <p:spPr>
          <a:xfrm>
            <a:off x="1234440" y="3666744"/>
            <a:ext cx="6382512" cy="155448"/>
          </a:xfrm>
          <a:prstGeom prst="rect">
            <a:avLst/>
          </a:prstGeom>
          <a:noFill/>
          <a:ln/>
        </p:spPr>
        <p:txBody>
          <a:bodyPr wrap="square" lIns="0" tIns="0" rIns="0" bIns="0" rtlCol="0" anchor="ctr">
            <a:normAutofit/>
          </a:bodyPr>
          <a:lstStyle/>
          <a:p>
            <a:pPr algn="l" indent="0" marL="0">
              <a:buNone/>
            </a:pPr>
            <a:r>
              <a:rPr lang="en-US" sz="770" b="1" dirty="0">
                <a:solidFill>
                  <a:srgbClr val="566074"/>
                </a:solidFill>
                <a:latin typeface="Aptos" pitchFamily="34" charset="0"/>
                <a:ea typeface="Aptos" pitchFamily="34" charset="-122"/>
                <a:cs typeface="Aptos" pitchFamily="34" charset="-120"/>
              </a:rPr>
              <a:t>Track next: revenue/session, purchase conversion by channel, and channel cost where available.</a:t>
            </a:r>
            <a:endParaRPr lang="en-US" sz="770" dirty="0"/>
          </a:p>
        </p:txBody>
      </p:sp>
      <p:sp>
        <p:nvSpPr>
          <p:cNvPr id="19" name="Shape 17"/>
          <p:cNvSpPr/>
          <p:nvPr/>
        </p:nvSpPr>
        <p:spPr>
          <a:xfrm>
            <a:off x="530352" y="4187952"/>
            <a:ext cx="7452360" cy="1188720"/>
          </a:xfrm>
          <a:prstGeom prst="roundRect">
            <a:avLst>
              <a:gd name="adj" fmla="val 9231"/>
            </a:avLst>
          </a:prstGeom>
          <a:solidFill>
            <a:srgbClr val="FFFFFF"/>
          </a:solidFill>
          <a:ln w="10160">
            <a:solidFill>
              <a:srgbClr val="E1E5EE"/>
            </a:solidFill>
            <a:prstDash val="solid"/>
          </a:ln>
        </p:spPr>
      </p:sp>
      <p:sp>
        <p:nvSpPr>
          <p:cNvPr id="20" name="Shape 18"/>
          <p:cNvSpPr/>
          <p:nvPr/>
        </p:nvSpPr>
        <p:spPr>
          <a:xfrm>
            <a:off x="694944" y="4370832"/>
            <a:ext cx="420624" cy="420624"/>
          </a:xfrm>
          <a:prstGeom prst="ellipse">
            <a:avLst/>
          </a:prstGeom>
          <a:solidFill>
            <a:srgbClr val="E1F3F1"/>
          </a:solidFill>
          <a:ln w="12700">
            <a:solidFill>
              <a:srgbClr val="E1F3F1"/>
            </a:solidFill>
            <a:prstDash val="solid"/>
          </a:ln>
        </p:spPr>
      </p:sp>
      <p:sp>
        <p:nvSpPr>
          <p:cNvPr id="21" name="Text 19"/>
          <p:cNvSpPr txBox="1"/>
          <p:nvPr/>
        </p:nvSpPr>
        <p:spPr>
          <a:xfrm>
            <a:off x="694944" y="4370832"/>
            <a:ext cx="420624" cy="420624"/>
          </a:xfrm>
          <a:prstGeom prst="rect">
            <a:avLst/>
          </a:prstGeom>
          <a:noFill/>
          <a:ln/>
        </p:spPr>
        <p:txBody>
          <a:bodyPr wrap="square" lIns="0" tIns="0" rIns="0" bIns="0" rtlCol="0" anchor="ctr">
            <a:normAutofit/>
          </a:bodyPr>
          <a:lstStyle/>
          <a:p>
            <a:pPr algn="ctr" indent="0" marL="0">
              <a:buNone/>
            </a:pPr>
            <a:r>
              <a:rPr lang="en-US" sz="1100" b="1" dirty="0">
                <a:solidFill>
                  <a:srgbClr val="168A84"/>
                </a:solidFill>
                <a:latin typeface="Aptos" pitchFamily="34" charset="0"/>
                <a:ea typeface="Aptos" pitchFamily="34" charset="-122"/>
                <a:cs typeface="Aptos" pitchFamily="34" charset="-120"/>
              </a:rPr>
              <a:t>03</a:t>
            </a:r>
            <a:endParaRPr lang="en-US" sz="1100" dirty="0"/>
          </a:p>
        </p:txBody>
      </p:sp>
      <p:sp>
        <p:nvSpPr>
          <p:cNvPr id="22" name="Text 20"/>
          <p:cNvSpPr txBox="1"/>
          <p:nvPr/>
        </p:nvSpPr>
        <p:spPr>
          <a:xfrm>
            <a:off x="1234440" y="4315968"/>
            <a:ext cx="2286000" cy="164592"/>
          </a:xfrm>
          <a:prstGeom prst="rect">
            <a:avLst/>
          </a:prstGeom>
          <a:noFill/>
          <a:ln/>
        </p:spPr>
        <p:txBody>
          <a:bodyPr wrap="square" lIns="0" tIns="0" rIns="0" bIns="0" rtlCol="0" anchor="ctr">
            <a:normAutofit/>
          </a:bodyPr>
          <a:lstStyle/>
          <a:p>
            <a:pPr algn="l" indent="0" marL="0">
              <a:buNone/>
            </a:pPr>
            <a:r>
              <a:rPr lang="en-US" sz="770" b="1" spc="40" kern="0" dirty="0">
                <a:solidFill>
                  <a:srgbClr val="168A84"/>
                </a:solidFill>
                <a:latin typeface="Aptos" pitchFamily="34" charset="0"/>
                <a:ea typeface="Aptos" pitchFamily="34" charset="-122"/>
                <a:cs typeface="Aptos" pitchFamily="34" charset="-120"/>
              </a:rPr>
              <a:t>BUILD  /  CLOSE DATA GAPS</a:t>
            </a:r>
            <a:endParaRPr lang="en-US" sz="770" dirty="0"/>
          </a:p>
        </p:txBody>
      </p:sp>
      <p:sp>
        <p:nvSpPr>
          <p:cNvPr id="23" name="Text 21"/>
          <p:cNvSpPr txBox="1"/>
          <p:nvPr/>
        </p:nvSpPr>
        <p:spPr>
          <a:xfrm>
            <a:off x="1234440" y="4507992"/>
            <a:ext cx="6355080" cy="210312"/>
          </a:xfrm>
          <a:prstGeom prst="rect">
            <a:avLst/>
          </a:prstGeom>
          <a:noFill/>
          <a:ln/>
        </p:spPr>
        <p:txBody>
          <a:bodyPr wrap="square" lIns="0" tIns="0" rIns="0" bIns="0" rtlCol="0" anchor="ctr">
            <a:normAutofit/>
          </a:bodyPr>
          <a:lstStyle/>
          <a:p>
            <a:pPr algn="l" indent="0" marL="0">
              <a:buNone/>
            </a:pPr>
            <a:r>
              <a:rPr lang="en-US" sz="1240" b="1" dirty="0">
                <a:solidFill>
                  <a:srgbClr val="14213D"/>
                </a:solidFill>
                <a:latin typeface="Aptos" pitchFamily="34" charset="0"/>
                <a:ea typeface="Aptos" pitchFamily="34" charset="-122"/>
                <a:cs typeface="Aptos" pitchFamily="34" charset="-120"/>
              </a:rPr>
              <a:t>Measure retention and revenue quality</a:t>
            </a:r>
            <a:endParaRPr lang="en-US" sz="1240" dirty="0"/>
          </a:p>
        </p:txBody>
      </p:sp>
      <p:sp>
        <p:nvSpPr>
          <p:cNvPr id="24" name="Text 22"/>
          <p:cNvSpPr txBox="1"/>
          <p:nvPr/>
        </p:nvSpPr>
        <p:spPr>
          <a:xfrm>
            <a:off x="1234440" y="4764024"/>
            <a:ext cx="6382512" cy="237744"/>
          </a:xfrm>
          <a:prstGeom prst="rect">
            <a:avLst/>
          </a:prstGeom>
          <a:noFill/>
          <a:ln/>
        </p:spPr>
        <p:txBody>
          <a:bodyPr wrap="square" lIns="0" tIns="0" rIns="0" bIns="0" rtlCol="0" anchor="t">
            <a:normAutofit/>
          </a:bodyPr>
          <a:lstStyle/>
          <a:p>
            <a:pPr algn="l" indent="0" marL="0">
              <a:buNone/>
            </a:pPr>
            <a:r>
              <a:rPr lang="en-US" sz="860" dirty="0">
                <a:solidFill>
                  <a:srgbClr val="1B2433"/>
                </a:solidFill>
                <a:latin typeface="Aptos" pitchFamily="34" charset="0"/>
                <a:ea typeface="Aptos" pitchFamily="34" charset="-122"/>
                <a:cs typeface="Aptos" pitchFamily="34" charset="-120"/>
              </a:rPr>
              <a:t>Join customer-level order history, refunds/returns, product costs and advertising spend to the reporting workflow.</a:t>
            </a:r>
            <a:endParaRPr lang="en-US" sz="860" dirty="0"/>
          </a:p>
        </p:txBody>
      </p:sp>
      <p:sp>
        <p:nvSpPr>
          <p:cNvPr id="25" name="Text 23"/>
          <p:cNvSpPr txBox="1"/>
          <p:nvPr/>
        </p:nvSpPr>
        <p:spPr>
          <a:xfrm>
            <a:off x="1234440" y="5020056"/>
            <a:ext cx="6382512" cy="155448"/>
          </a:xfrm>
          <a:prstGeom prst="rect">
            <a:avLst/>
          </a:prstGeom>
          <a:noFill/>
          <a:ln/>
        </p:spPr>
        <p:txBody>
          <a:bodyPr wrap="square" lIns="0" tIns="0" rIns="0" bIns="0" rtlCol="0" anchor="ctr">
            <a:normAutofit/>
          </a:bodyPr>
          <a:lstStyle/>
          <a:p>
            <a:pPr algn="l" indent="0" marL="0">
              <a:buNone/>
            </a:pPr>
            <a:r>
              <a:rPr lang="en-US" sz="770" b="1" dirty="0">
                <a:solidFill>
                  <a:srgbClr val="566074"/>
                </a:solidFill>
                <a:latin typeface="Aptos" pitchFamily="34" charset="0"/>
                <a:ea typeface="Aptos" pitchFamily="34" charset="-122"/>
                <a:cs typeface="Aptos" pitchFamily="34" charset="-120"/>
              </a:rPr>
              <a:t>Add: repeat-purchase rate, refund/return rate, contribution margin and ROAS.</a:t>
            </a:r>
            <a:endParaRPr lang="en-US" sz="770" dirty="0"/>
          </a:p>
        </p:txBody>
      </p:sp>
      <p:sp>
        <p:nvSpPr>
          <p:cNvPr id="26" name="Shape 24"/>
          <p:cNvSpPr/>
          <p:nvPr/>
        </p:nvSpPr>
        <p:spPr>
          <a:xfrm>
            <a:off x="8193024" y="1481328"/>
            <a:ext cx="3474720" cy="2011680"/>
          </a:xfrm>
          <a:prstGeom prst="roundRect">
            <a:avLst>
              <a:gd name="adj" fmla="val 5455"/>
            </a:avLst>
          </a:prstGeom>
          <a:solidFill>
            <a:srgbClr val="14213D"/>
          </a:solidFill>
          <a:ln w="10160">
            <a:solidFill>
              <a:srgbClr val="14213D"/>
            </a:solidFill>
            <a:prstDash val="solid"/>
          </a:ln>
        </p:spPr>
      </p:sp>
      <p:sp>
        <p:nvSpPr>
          <p:cNvPr id="27" name="Text 25"/>
          <p:cNvSpPr txBox="1"/>
          <p:nvPr/>
        </p:nvSpPr>
        <p:spPr>
          <a:xfrm>
            <a:off x="8412480" y="1709928"/>
            <a:ext cx="2834640" cy="173736"/>
          </a:xfrm>
          <a:prstGeom prst="rect">
            <a:avLst/>
          </a:prstGeom>
          <a:noFill/>
          <a:ln/>
        </p:spPr>
        <p:txBody>
          <a:bodyPr wrap="square" lIns="0" tIns="0" rIns="0" bIns="0" rtlCol="0" anchor="ctr">
            <a:normAutofit/>
          </a:bodyPr>
          <a:lstStyle/>
          <a:p>
            <a:pPr algn="l" indent="0" marL="0">
              <a:buNone/>
            </a:pPr>
            <a:r>
              <a:rPr lang="en-US" sz="850" b="1" spc="70" kern="0" dirty="0">
                <a:solidFill>
                  <a:srgbClr val="9FC5FF"/>
                </a:solidFill>
                <a:latin typeface="Aptos" pitchFamily="34" charset="0"/>
                <a:ea typeface="Aptos" pitchFamily="34" charset="-122"/>
                <a:cs typeface="Aptos" pitchFamily="34" charset="-120"/>
              </a:rPr>
              <a:t>DECISION RULE</a:t>
            </a:r>
            <a:endParaRPr lang="en-US" sz="850" dirty="0"/>
          </a:p>
        </p:txBody>
      </p:sp>
      <p:sp>
        <p:nvSpPr>
          <p:cNvPr id="28" name="Text 26"/>
          <p:cNvSpPr txBox="1"/>
          <p:nvPr/>
        </p:nvSpPr>
        <p:spPr>
          <a:xfrm>
            <a:off x="8412480" y="1993392"/>
            <a:ext cx="2871216" cy="630936"/>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ptos Display" pitchFamily="34" charset="0"/>
                <a:ea typeface="Aptos Display" pitchFamily="34" charset="-122"/>
                <a:cs typeface="Aptos Display" pitchFamily="34" charset="-120"/>
              </a:rPr>
              <a:t>A difference is a signal to investigate—not proof of cause.</a:t>
            </a:r>
            <a:endParaRPr lang="en-US" sz="1800" dirty="0"/>
          </a:p>
        </p:txBody>
      </p:sp>
      <p:sp>
        <p:nvSpPr>
          <p:cNvPr id="29" name="Text 27"/>
          <p:cNvSpPr txBox="1"/>
          <p:nvPr/>
        </p:nvSpPr>
        <p:spPr>
          <a:xfrm>
            <a:off x="8412480" y="2770632"/>
            <a:ext cx="2852928" cy="384048"/>
          </a:xfrm>
          <a:prstGeom prst="rect">
            <a:avLst/>
          </a:prstGeom>
          <a:noFill/>
          <a:ln/>
        </p:spPr>
        <p:txBody>
          <a:bodyPr wrap="square" lIns="0" tIns="0" rIns="0" bIns="0" rtlCol="0" anchor="t">
            <a:normAutofit/>
          </a:bodyPr>
          <a:lstStyle/>
          <a:p>
            <a:pPr algn="l" indent="0" marL="0">
              <a:buNone/>
            </a:pPr>
            <a:r>
              <a:rPr lang="en-US" sz="920" dirty="0">
                <a:solidFill>
                  <a:srgbClr val="D5DEED"/>
                </a:solidFill>
                <a:latin typeface="Aptos" pitchFamily="34" charset="0"/>
                <a:ea typeface="Aptos" pitchFamily="34" charset="-122"/>
                <a:cs typeface="Aptos" pitchFamily="34" charset="-120"/>
              </a:rPr>
              <a:t>Confirm denominators, event definitions and data quality before acting.</a:t>
            </a:r>
            <a:endParaRPr lang="en-US" sz="920" dirty="0"/>
          </a:p>
        </p:txBody>
      </p:sp>
      <p:sp>
        <p:nvSpPr>
          <p:cNvPr id="30" name="Shape 28"/>
          <p:cNvSpPr/>
          <p:nvPr/>
        </p:nvSpPr>
        <p:spPr>
          <a:xfrm>
            <a:off x="8193024" y="3657600"/>
            <a:ext cx="3474720" cy="1618488"/>
          </a:xfrm>
          <a:prstGeom prst="roundRect">
            <a:avLst>
              <a:gd name="adj" fmla="val 6780"/>
            </a:avLst>
          </a:prstGeom>
          <a:solidFill>
            <a:srgbClr val="FFFFFF"/>
          </a:solidFill>
          <a:ln w="10160">
            <a:solidFill>
              <a:srgbClr val="E1E5EE"/>
            </a:solidFill>
            <a:prstDash val="solid"/>
          </a:ln>
        </p:spPr>
      </p:sp>
      <p:sp>
        <p:nvSpPr>
          <p:cNvPr id="31" name="Text 29"/>
          <p:cNvSpPr txBox="1"/>
          <p:nvPr/>
        </p:nvSpPr>
        <p:spPr>
          <a:xfrm>
            <a:off x="8412480" y="3840480"/>
            <a:ext cx="2834640" cy="173736"/>
          </a:xfrm>
          <a:prstGeom prst="rect">
            <a:avLst/>
          </a:prstGeom>
          <a:noFill/>
          <a:ln/>
        </p:spPr>
        <p:txBody>
          <a:bodyPr wrap="square" lIns="0" tIns="0" rIns="0" bIns="0" rtlCol="0" anchor="ctr">
            <a:normAutofit/>
          </a:bodyPr>
          <a:lstStyle/>
          <a:p>
            <a:pPr algn="l" indent="0" marL="0">
              <a:buNone/>
            </a:pPr>
            <a:r>
              <a:rPr lang="en-US" sz="840" b="1" spc="50" kern="0" dirty="0">
                <a:solidFill>
                  <a:srgbClr val="168A84"/>
                </a:solidFill>
                <a:latin typeface="Aptos" pitchFamily="34" charset="0"/>
                <a:ea typeface="Aptos" pitchFamily="34" charset="-122"/>
                <a:cs typeface="Aptos" pitchFamily="34" charset="-120"/>
              </a:rPr>
              <a:t>EXPECTED BUSINESS VALUE</a:t>
            </a:r>
            <a:endParaRPr lang="en-US" sz="840" dirty="0"/>
          </a:p>
        </p:txBody>
      </p:sp>
      <p:sp>
        <p:nvSpPr>
          <p:cNvPr id="32" name="Text 30"/>
          <p:cNvSpPr txBox="1"/>
          <p:nvPr/>
        </p:nvSpPr>
        <p:spPr>
          <a:xfrm>
            <a:off x="8412480" y="4133088"/>
            <a:ext cx="2862072" cy="502920"/>
          </a:xfrm>
          <a:prstGeom prst="rect">
            <a:avLst/>
          </a:prstGeom>
          <a:noFill/>
          <a:ln/>
        </p:spPr>
        <p:txBody>
          <a:bodyPr wrap="square" lIns="0" tIns="0" rIns="0" bIns="0" rtlCol="0" anchor="t">
            <a:normAutofit/>
          </a:bodyPr>
          <a:lstStyle/>
          <a:p>
            <a:pPr algn="l" indent="0" marL="0">
              <a:buNone/>
            </a:pPr>
            <a:r>
              <a:rPr lang="en-US" sz="1500" b="1" dirty="0">
                <a:solidFill>
                  <a:srgbClr val="14213D"/>
                </a:solidFill>
                <a:latin typeface="Aptos Display" pitchFamily="34" charset="0"/>
                <a:ea typeface="Aptos Display" pitchFamily="34" charset="-122"/>
                <a:cs typeface="Aptos Display" pitchFamily="34" charset="-120"/>
              </a:rPr>
              <a:t>Move from activity reporting to decision-ready measurement.</a:t>
            </a:r>
            <a:endParaRPr lang="en-US" sz="1500" dirty="0"/>
          </a:p>
        </p:txBody>
      </p:sp>
      <p:sp>
        <p:nvSpPr>
          <p:cNvPr id="33" name="Text 31"/>
          <p:cNvSpPr txBox="1"/>
          <p:nvPr/>
        </p:nvSpPr>
        <p:spPr>
          <a:xfrm>
            <a:off x="8412480" y="4773168"/>
            <a:ext cx="2871216" cy="301752"/>
          </a:xfrm>
          <a:prstGeom prst="rect">
            <a:avLst/>
          </a:prstGeom>
          <a:noFill/>
          <a:ln/>
        </p:spPr>
        <p:txBody>
          <a:bodyPr wrap="square" lIns="0" tIns="0" rIns="0" bIns="0" rtlCol="0" anchor="t">
            <a:normAutofit/>
          </a:bodyPr>
          <a:lstStyle/>
          <a:p>
            <a:pPr algn="l" indent="0" marL="0">
              <a:buNone/>
            </a:pPr>
            <a:r>
              <a:rPr lang="en-US" sz="830" dirty="0">
                <a:solidFill>
                  <a:srgbClr val="566074"/>
                </a:solidFill>
                <a:latin typeface="Aptos" pitchFamily="34" charset="0"/>
                <a:ea typeface="Aptos" pitchFamily="34" charset="-122"/>
                <a:cs typeface="Aptos" pitchFamily="34" charset="-120"/>
              </a:rPr>
              <a:t>Better diagnosis • better allocation • stronger measurement</a:t>
            </a:r>
            <a:endParaRPr lang="en-US" sz="830" dirty="0"/>
          </a:p>
        </p:txBody>
      </p:sp>
      <p:sp>
        <p:nvSpPr>
          <p:cNvPr id="34" name="Shape 32"/>
          <p:cNvSpPr/>
          <p:nvPr/>
        </p:nvSpPr>
        <p:spPr>
          <a:xfrm>
            <a:off x="8193024" y="5440680"/>
            <a:ext cx="3474720" cy="576072"/>
          </a:xfrm>
          <a:prstGeom prst="roundRect">
            <a:avLst>
              <a:gd name="adj" fmla="val 14286"/>
            </a:avLst>
          </a:prstGeom>
          <a:solidFill>
            <a:srgbClr val="FFF2D8"/>
          </a:solidFill>
          <a:ln w="10160">
            <a:solidFill>
              <a:srgbClr val="F6E3B5"/>
            </a:solidFill>
            <a:prstDash val="solid"/>
          </a:ln>
        </p:spPr>
      </p:sp>
      <p:sp>
        <p:nvSpPr>
          <p:cNvPr id="35" name="Text 33"/>
          <p:cNvSpPr txBox="1"/>
          <p:nvPr/>
        </p:nvSpPr>
        <p:spPr>
          <a:xfrm>
            <a:off x="8375904" y="5596128"/>
            <a:ext cx="3136392" cy="219456"/>
          </a:xfrm>
          <a:prstGeom prst="rect">
            <a:avLst/>
          </a:prstGeom>
          <a:noFill/>
          <a:ln/>
        </p:spPr>
        <p:txBody>
          <a:bodyPr wrap="square" lIns="0" tIns="0" rIns="0" bIns="0" rtlCol="0" anchor="ctr">
            <a:normAutofit/>
          </a:bodyPr>
          <a:lstStyle/>
          <a:p>
            <a:pPr algn="ctr" indent="0" marL="0">
              <a:buNone/>
            </a:pPr>
            <a:r>
              <a:rPr lang="en-US" sz="860" b="1" dirty="0">
                <a:solidFill>
                  <a:srgbClr val="A85D00"/>
                </a:solidFill>
                <a:latin typeface="Aptos" pitchFamily="34" charset="0"/>
                <a:ea typeface="Aptos" pitchFamily="34" charset="-122"/>
                <a:cs typeface="Aptos" pitchFamily="34" charset="-120"/>
              </a:rPr>
              <a:t>Prototype only: not connected to Google systems.</a:t>
            </a:r>
            <a:endParaRPr lang="en-US" sz="860" dirty="0"/>
          </a:p>
        </p:txBody>
      </p:sp>
      <p:sp>
        <p:nvSpPr>
          <p:cNvPr id="36" name="Text 34"/>
          <p:cNvSpPr txBox="1"/>
          <p:nvPr/>
        </p:nvSpPr>
        <p:spPr>
          <a:xfrm>
            <a:off x="566928" y="6245352"/>
            <a:ext cx="10744200" cy="146304"/>
          </a:xfrm>
          <a:prstGeom prst="rect">
            <a:avLst/>
          </a:prstGeom>
          <a:noFill/>
          <a:ln/>
        </p:spPr>
        <p:txBody>
          <a:bodyPr wrap="square" lIns="0" tIns="0" rIns="0" bIns="0" rtlCol="0" anchor="ctr">
            <a:normAutofit/>
          </a:bodyPr>
          <a:lstStyle/>
          <a:p>
            <a:pPr algn="l" indent="0" marL="0">
              <a:buNone/>
            </a:pPr>
            <a:r>
              <a:rPr lang="en-US" sz="720" dirty="0">
                <a:solidFill>
                  <a:srgbClr val="566074"/>
                </a:solidFill>
                <a:latin typeface="Aptos" pitchFamily="34" charset="0"/>
                <a:ea typeface="Aptos" pitchFamily="34" charset="-122"/>
                <a:cs typeface="Aptos" pitchFamily="34" charset="-120"/>
              </a:rPr>
              <a:t>Source: supplied GA4 demo screenshots. Method: funnel exploration concepts and demo-account context, Google Analytics Help (support.google.com/analytics/answer/9327974; /6367342).</a:t>
            </a:r>
            <a:endParaRPr lang="en-US" sz="72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Student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Detective — Google Merchandise Store</dc:title>
  <dc:subject>CIA 1 KPI Teardown — Google Merchandise Store</dc:subject>
  <dc:creator>OpenAI</dc:creator>
  <cp:lastModifiedBy>OpenAI</cp:lastModifiedBy>
  <cp:revision>1</cp:revision>
  <dcterms:created xsi:type="dcterms:W3CDTF">2026-10-25T14:21:35Z</dcterms:created>
  <dcterms:modified xsi:type="dcterms:W3CDTF">2026-10-25T14:21:35Z</dcterms:modified>
</cp:coreProperties>
</file>